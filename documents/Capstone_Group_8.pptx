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74" r:id="rId3"/>
    <p:sldId id="257" r:id="rId4"/>
    <p:sldId id="258" r:id="rId5"/>
    <p:sldId id="259" r:id="rId6"/>
    <p:sldId id="261" r:id="rId7"/>
    <p:sldId id="283" r:id="rId8"/>
    <p:sldId id="269" r:id="rId9"/>
    <p:sldId id="281" r:id="rId10"/>
    <p:sldId id="270" r:id="rId11"/>
    <p:sldId id="282" r:id="rId12"/>
    <p:sldId id="271" r:id="rId13"/>
    <p:sldId id="264" r:id="rId14"/>
    <p:sldId id="272" r:id="rId15"/>
    <p:sldId id="276" r:id="rId16"/>
    <p:sldId id="277" r:id="rId17"/>
    <p:sldId id="278" r:id="rId18"/>
    <p:sldId id="279" r:id="rId19"/>
    <p:sldId id="280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DBC35-5626-3C88-B9DA-0EADEAC02BFB}" v="424" dt="2025-12-01T00:18:24.635"/>
    <p1510:client id="{47A244D7-5F1A-9A35-09A4-CC360FE31439}" v="262" dt="2025-12-01T02:39:29.045"/>
    <p1510:client id="{8C646750-0120-2A55-519C-7ABB30334374}" v="18" dt="2025-12-01T02:41:13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jpe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jpe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8105A6-A070-4845-AF83-B09F9EA9A6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A9E7DA-1B67-4905-8D4A-5607B69902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Introduction &amp; Problem Statement</a:t>
          </a:r>
        </a:p>
      </dgm:t>
    </dgm:pt>
    <dgm:pt modelId="{F75C1A34-F732-4EFA-AC54-3939D1858AF0}" type="parTrans" cxnId="{63B349FD-AE97-4879-8924-19D0A8D43B85}">
      <dgm:prSet/>
      <dgm:spPr/>
      <dgm:t>
        <a:bodyPr/>
        <a:lstStyle/>
        <a:p>
          <a:endParaRPr lang="en-US"/>
        </a:p>
      </dgm:t>
    </dgm:pt>
    <dgm:pt modelId="{42A30D78-68F4-40F0-95E8-E62C9A771A3E}" type="sibTrans" cxnId="{63B349FD-AE97-4879-8924-19D0A8D43B85}">
      <dgm:prSet/>
      <dgm:spPr/>
      <dgm:t>
        <a:bodyPr/>
        <a:lstStyle/>
        <a:p>
          <a:endParaRPr lang="en-US"/>
        </a:p>
      </dgm:t>
    </dgm:pt>
    <dgm:pt modelId="{47E4DA95-67C7-4E6F-99E0-DCBD10365B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Research Questions</a:t>
          </a:r>
        </a:p>
      </dgm:t>
    </dgm:pt>
    <dgm:pt modelId="{4EE3DF22-0A64-494F-B9CA-40FF268ED228}" type="parTrans" cxnId="{A2EC3D7D-0D80-4446-A443-E0A3F1A30ED9}">
      <dgm:prSet/>
      <dgm:spPr/>
      <dgm:t>
        <a:bodyPr/>
        <a:lstStyle/>
        <a:p>
          <a:endParaRPr lang="en-US"/>
        </a:p>
      </dgm:t>
    </dgm:pt>
    <dgm:pt modelId="{2EE1592C-3BFB-4D63-8AAE-F0A03D3E0324}" type="sibTrans" cxnId="{A2EC3D7D-0D80-4446-A443-E0A3F1A30ED9}">
      <dgm:prSet/>
      <dgm:spPr/>
      <dgm:t>
        <a:bodyPr/>
        <a:lstStyle/>
        <a:p>
          <a:endParaRPr lang="en-US"/>
        </a:p>
      </dgm:t>
    </dgm:pt>
    <dgm:pt modelId="{AB1B451F-9D65-4E17-B7C9-70D7F7862F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Dataset &amp; Methodology</a:t>
          </a:r>
        </a:p>
      </dgm:t>
    </dgm:pt>
    <dgm:pt modelId="{57EE41E8-8FF2-4434-BADA-DF39BD8FD2B4}" type="parTrans" cxnId="{72ECF746-7B1C-4067-AA83-F11D713C4F3B}">
      <dgm:prSet/>
      <dgm:spPr/>
      <dgm:t>
        <a:bodyPr/>
        <a:lstStyle/>
        <a:p>
          <a:endParaRPr lang="en-US"/>
        </a:p>
      </dgm:t>
    </dgm:pt>
    <dgm:pt modelId="{B2581928-A189-4885-B9AD-5620A98E967E}" type="sibTrans" cxnId="{72ECF746-7B1C-4067-AA83-F11D713C4F3B}">
      <dgm:prSet/>
      <dgm:spPr/>
      <dgm:t>
        <a:bodyPr/>
        <a:lstStyle/>
        <a:p>
          <a:endParaRPr lang="en-US"/>
        </a:p>
      </dgm:t>
    </dgm:pt>
    <dgm:pt modelId="{E9174CA7-58E5-440C-B2E1-9BBB6129D2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Dashboard Overview</a:t>
          </a:r>
        </a:p>
      </dgm:t>
    </dgm:pt>
    <dgm:pt modelId="{0BCD18E7-3634-44C2-8EE5-BC213637A501}" type="parTrans" cxnId="{79CE21CD-CE91-49BE-AC3C-BE80DBC41B72}">
      <dgm:prSet/>
      <dgm:spPr/>
      <dgm:t>
        <a:bodyPr/>
        <a:lstStyle/>
        <a:p>
          <a:endParaRPr lang="en-US"/>
        </a:p>
      </dgm:t>
    </dgm:pt>
    <dgm:pt modelId="{88B9E694-BF2F-41A1-8CA7-8F3C23D11176}" type="sibTrans" cxnId="{79CE21CD-CE91-49BE-AC3C-BE80DBC41B72}">
      <dgm:prSet/>
      <dgm:spPr/>
      <dgm:t>
        <a:bodyPr/>
        <a:lstStyle/>
        <a:p>
          <a:endParaRPr lang="en-US"/>
        </a:p>
      </dgm:t>
    </dgm:pt>
    <dgm:pt modelId="{85D69839-3A0F-4DD1-AF6E-45CC112F5C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Key Insights (Financial, Operational, Geographic)</a:t>
          </a:r>
        </a:p>
      </dgm:t>
    </dgm:pt>
    <dgm:pt modelId="{AA399154-6A78-49CC-9664-6F89064319FE}" type="parTrans" cxnId="{61330215-9930-40CB-A1E2-21FB3A3E4A50}">
      <dgm:prSet/>
      <dgm:spPr/>
      <dgm:t>
        <a:bodyPr/>
        <a:lstStyle/>
        <a:p>
          <a:endParaRPr lang="en-US"/>
        </a:p>
      </dgm:t>
    </dgm:pt>
    <dgm:pt modelId="{54A8FD28-0228-4313-ADC3-48DB6DD36BEE}" type="sibTrans" cxnId="{61330215-9930-40CB-A1E2-21FB3A3E4A50}">
      <dgm:prSet/>
      <dgm:spPr/>
      <dgm:t>
        <a:bodyPr/>
        <a:lstStyle/>
        <a:p>
          <a:endParaRPr lang="en-US"/>
        </a:p>
      </dgm:t>
    </dgm:pt>
    <dgm:pt modelId="{3B80B5E3-DAAD-4EF2-A486-1DE06557AF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Challenges &amp; Recommendations</a:t>
          </a:r>
        </a:p>
      </dgm:t>
    </dgm:pt>
    <dgm:pt modelId="{F568659F-A332-466F-93B9-E38446C7F7EB}" type="parTrans" cxnId="{7928F1AD-6BEE-4E6C-93D8-08F5D99D5F38}">
      <dgm:prSet/>
      <dgm:spPr/>
      <dgm:t>
        <a:bodyPr/>
        <a:lstStyle/>
        <a:p>
          <a:endParaRPr lang="en-US"/>
        </a:p>
      </dgm:t>
    </dgm:pt>
    <dgm:pt modelId="{9F6F6360-F4A5-4535-9A90-6EEED9E34F1C}" type="sibTrans" cxnId="{7928F1AD-6BEE-4E6C-93D8-08F5D99D5F38}">
      <dgm:prSet/>
      <dgm:spPr/>
      <dgm:t>
        <a:bodyPr/>
        <a:lstStyle/>
        <a:p>
          <a:endParaRPr lang="en-US"/>
        </a:p>
      </dgm:t>
    </dgm:pt>
    <dgm:pt modelId="{758C1A70-67D8-439A-90DE-DA83EEC4E2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Future Work</a:t>
          </a:r>
        </a:p>
      </dgm:t>
    </dgm:pt>
    <dgm:pt modelId="{8954A435-179E-443A-BF30-C80D1BC5DC42}" type="parTrans" cxnId="{F31C3B19-4B96-43BD-A192-C89458CB6EDA}">
      <dgm:prSet/>
      <dgm:spPr/>
      <dgm:t>
        <a:bodyPr/>
        <a:lstStyle/>
        <a:p>
          <a:endParaRPr lang="en-US"/>
        </a:p>
      </dgm:t>
    </dgm:pt>
    <dgm:pt modelId="{C7F1FD1E-E8E2-475B-8F88-67AB06AA6C9F}" type="sibTrans" cxnId="{F31C3B19-4B96-43BD-A192-C89458CB6EDA}">
      <dgm:prSet/>
      <dgm:spPr/>
      <dgm:t>
        <a:bodyPr/>
        <a:lstStyle/>
        <a:p>
          <a:endParaRPr lang="en-US"/>
        </a:p>
      </dgm:t>
    </dgm:pt>
    <dgm:pt modelId="{02E9ACC8-FA34-4E79-8CDF-2434C4127F1C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Neue Haas Grotesk Text Pro"/>
            </a:rPr>
            <a:t>Q &amp; A</a:t>
          </a:r>
        </a:p>
      </dgm:t>
    </dgm:pt>
    <dgm:pt modelId="{C856297C-093B-4EC6-A5B4-9CC6EF9806AF}" type="parTrans" cxnId="{A097F2FC-226E-4B3C-9E7A-C8E1362FC423}">
      <dgm:prSet/>
      <dgm:spPr/>
    </dgm:pt>
    <dgm:pt modelId="{F48BFC19-8F61-4716-81A0-FBCAF15C10BD}" type="sibTrans" cxnId="{A097F2FC-226E-4B3C-9E7A-C8E1362FC423}">
      <dgm:prSet/>
      <dgm:spPr/>
    </dgm:pt>
    <dgm:pt modelId="{AE465C93-0D45-4FCA-8459-205C713CFEA9}" type="pres">
      <dgm:prSet presAssocID="{0D8105A6-A070-4845-AF83-B09F9EA9A6A7}" presName="root" presStyleCnt="0">
        <dgm:presLayoutVars>
          <dgm:dir/>
          <dgm:resizeHandles val="exact"/>
        </dgm:presLayoutVars>
      </dgm:prSet>
      <dgm:spPr/>
    </dgm:pt>
    <dgm:pt modelId="{787084DF-C276-4C2C-A176-3415BB2E3745}" type="pres">
      <dgm:prSet presAssocID="{B8A9E7DA-1B67-4905-8D4A-5607B69902BE}" presName="compNode" presStyleCnt="0"/>
      <dgm:spPr/>
    </dgm:pt>
    <dgm:pt modelId="{AB19F33F-5506-4B44-A237-295756FDCE9F}" type="pres">
      <dgm:prSet presAssocID="{B8A9E7DA-1B67-4905-8D4A-5607B69902BE}" presName="bgRect" presStyleLbl="bgShp" presStyleIdx="0" presStyleCnt="8"/>
      <dgm:spPr/>
    </dgm:pt>
    <dgm:pt modelId="{86AFAA2E-88D8-4204-B231-5D88813779D5}" type="pres">
      <dgm:prSet presAssocID="{B8A9E7DA-1B67-4905-8D4A-5607B69902BE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43F0D9E-14E8-4D92-9CB5-CDFC77BCF725}" type="pres">
      <dgm:prSet presAssocID="{B8A9E7DA-1B67-4905-8D4A-5607B69902BE}" presName="spaceRect" presStyleCnt="0"/>
      <dgm:spPr/>
    </dgm:pt>
    <dgm:pt modelId="{0F9C0C33-820D-4EBB-A25E-8BAFD4663FCC}" type="pres">
      <dgm:prSet presAssocID="{B8A9E7DA-1B67-4905-8D4A-5607B69902BE}" presName="parTx" presStyleLbl="revTx" presStyleIdx="0" presStyleCnt="8">
        <dgm:presLayoutVars>
          <dgm:chMax val="0"/>
          <dgm:chPref val="0"/>
        </dgm:presLayoutVars>
      </dgm:prSet>
      <dgm:spPr/>
    </dgm:pt>
    <dgm:pt modelId="{291F4651-F54D-411B-BA67-3863C44A461B}" type="pres">
      <dgm:prSet presAssocID="{42A30D78-68F4-40F0-95E8-E62C9A771A3E}" presName="sibTrans" presStyleCnt="0"/>
      <dgm:spPr/>
    </dgm:pt>
    <dgm:pt modelId="{F5871E76-78EE-456F-AA44-0BC91DFA512B}" type="pres">
      <dgm:prSet presAssocID="{47E4DA95-67C7-4E6F-99E0-DCBD10365B73}" presName="compNode" presStyleCnt="0"/>
      <dgm:spPr/>
    </dgm:pt>
    <dgm:pt modelId="{BF4A252F-83D9-4F01-8286-28708B041F89}" type="pres">
      <dgm:prSet presAssocID="{47E4DA95-67C7-4E6F-99E0-DCBD10365B73}" presName="bgRect" presStyleLbl="bgShp" presStyleIdx="1" presStyleCnt="8"/>
      <dgm:spPr/>
    </dgm:pt>
    <dgm:pt modelId="{F97C1EF3-E94D-4C20-90A9-DFBC0334B71C}" type="pres">
      <dgm:prSet presAssocID="{47E4DA95-67C7-4E6F-99E0-DCBD10365B73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8E20B6E7-86F2-4675-B29A-E7FBA6B3E817}" type="pres">
      <dgm:prSet presAssocID="{47E4DA95-67C7-4E6F-99E0-DCBD10365B73}" presName="spaceRect" presStyleCnt="0"/>
      <dgm:spPr/>
    </dgm:pt>
    <dgm:pt modelId="{39CDDDB5-E872-4C9D-9D1F-E941BFF880A7}" type="pres">
      <dgm:prSet presAssocID="{47E4DA95-67C7-4E6F-99E0-DCBD10365B73}" presName="parTx" presStyleLbl="revTx" presStyleIdx="1" presStyleCnt="8">
        <dgm:presLayoutVars>
          <dgm:chMax val="0"/>
          <dgm:chPref val="0"/>
        </dgm:presLayoutVars>
      </dgm:prSet>
      <dgm:spPr/>
    </dgm:pt>
    <dgm:pt modelId="{C406C944-102F-469A-8E09-255809843981}" type="pres">
      <dgm:prSet presAssocID="{2EE1592C-3BFB-4D63-8AAE-F0A03D3E0324}" presName="sibTrans" presStyleCnt="0"/>
      <dgm:spPr/>
    </dgm:pt>
    <dgm:pt modelId="{1166E6BF-CCF1-448E-AD7A-8504CEFC7A2E}" type="pres">
      <dgm:prSet presAssocID="{AB1B451F-9D65-4E17-B7C9-70D7F7862FDD}" presName="compNode" presStyleCnt="0"/>
      <dgm:spPr/>
    </dgm:pt>
    <dgm:pt modelId="{B941209D-8DF8-4D85-9C11-001079628504}" type="pres">
      <dgm:prSet presAssocID="{AB1B451F-9D65-4E17-B7C9-70D7F7862FDD}" presName="bgRect" presStyleLbl="bgShp" presStyleIdx="2" presStyleCnt="8"/>
      <dgm:spPr/>
    </dgm:pt>
    <dgm:pt modelId="{EEA973C8-FA00-4360-8390-43C54A154ADE}" type="pres">
      <dgm:prSet presAssocID="{AB1B451F-9D65-4E17-B7C9-70D7F7862FDD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92F81E-6B63-4A8D-9B04-C83D33676F00}" type="pres">
      <dgm:prSet presAssocID="{AB1B451F-9D65-4E17-B7C9-70D7F7862FDD}" presName="spaceRect" presStyleCnt="0"/>
      <dgm:spPr/>
    </dgm:pt>
    <dgm:pt modelId="{D4CFFA96-C1D7-4BDA-AB6E-0BE8DD15953D}" type="pres">
      <dgm:prSet presAssocID="{AB1B451F-9D65-4E17-B7C9-70D7F7862FDD}" presName="parTx" presStyleLbl="revTx" presStyleIdx="2" presStyleCnt="8">
        <dgm:presLayoutVars>
          <dgm:chMax val="0"/>
          <dgm:chPref val="0"/>
        </dgm:presLayoutVars>
      </dgm:prSet>
      <dgm:spPr/>
    </dgm:pt>
    <dgm:pt modelId="{978448CE-9FAD-4079-8969-1E0D9FFE4151}" type="pres">
      <dgm:prSet presAssocID="{B2581928-A189-4885-B9AD-5620A98E967E}" presName="sibTrans" presStyleCnt="0"/>
      <dgm:spPr/>
    </dgm:pt>
    <dgm:pt modelId="{5A4124CE-B56E-4938-A3E1-24B7B79C7EE1}" type="pres">
      <dgm:prSet presAssocID="{E9174CA7-58E5-440C-B2E1-9BBB6129D207}" presName="compNode" presStyleCnt="0"/>
      <dgm:spPr/>
    </dgm:pt>
    <dgm:pt modelId="{B37FC3ED-2B62-40E5-A441-B810A5A24E67}" type="pres">
      <dgm:prSet presAssocID="{E9174CA7-58E5-440C-B2E1-9BBB6129D207}" presName="bgRect" presStyleLbl="bgShp" presStyleIdx="3" presStyleCnt="8"/>
      <dgm:spPr/>
    </dgm:pt>
    <dgm:pt modelId="{6A3BE3DE-706F-4186-A815-C9B19AAA989C}" type="pres">
      <dgm:prSet presAssocID="{E9174CA7-58E5-440C-B2E1-9BBB6129D207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1C3C75C-80E6-4652-A062-829E3D5BD4F8}" type="pres">
      <dgm:prSet presAssocID="{E9174CA7-58E5-440C-B2E1-9BBB6129D207}" presName="spaceRect" presStyleCnt="0"/>
      <dgm:spPr/>
    </dgm:pt>
    <dgm:pt modelId="{C445C665-7EFF-4F59-AE74-44CB06C86AD8}" type="pres">
      <dgm:prSet presAssocID="{E9174CA7-58E5-440C-B2E1-9BBB6129D207}" presName="parTx" presStyleLbl="revTx" presStyleIdx="3" presStyleCnt="8">
        <dgm:presLayoutVars>
          <dgm:chMax val="0"/>
          <dgm:chPref val="0"/>
        </dgm:presLayoutVars>
      </dgm:prSet>
      <dgm:spPr/>
    </dgm:pt>
    <dgm:pt modelId="{98745AA0-D6FA-4F9E-A659-94755843B7B9}" type="pres">
      <dgm:prSet presAssocID="{88B9E694-BF2F-41A1-8CA7-8F3C23D11176}" presName="sibTrans" presStyleCnt="0"/>
      <dgm:spPr/>
    </dgm:pt>
    <dgm:pt modelId="{C47C660F-25AD-4F0E-AB23-F9A6C981F8B4}" type="pres">
      <dgm:prSet presAssocID="{85D69839-3A0F-4DD1-AF6E-45CC112F5C53}" presName="compNode" presStyleCnt="0"/>
      <dgm:spPr/>
    </dgm:pt>
    <dgm:pt modelId="{5FD10B31-70DF-43DA-990F-441A71E8660D}" type="pres">
      <dgm:prSet presAssocID="{85D69839-3A0F-4DD1-AF6E-45CC112F5C53}" presName="bgRect" presStyleLbl="bgShp" presStyleIdx="4" presStyleCnt="8"/>
      <dgm:spPr/>
    </dgm:pt>
    <dgm:pt modelId="{F24F7028-8970-4155-80E9-279194A96D8D}" type="pres">
      <dgm:prSet presAssocID="{85D69839-3A0F-4DD1-AF6E-45CC112F5C53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921F0D6-174F-436D-AD38-975450462014}" type="pres">
      <dgm:prSet presAssocID="{85D69839-3A0F-4DD1-AF6E-45CC112F5C53}" presName="spaceRect" presStyleCnt="0"/>
      <dgm:spPr/>
    </dgm:pt>
    <dgm:pt modelId="{5EDB873B-7B9B-4BB1-9126-4C7BE6A89F29}" type="pres">
      <dgm:prSet presAssocID="{85D69839-3A0F-4DD1-AF6E-45CC112F5C53}" presName="parTx" presStyleLbl="revTx" presStyleIdx="4" presStyleCnt="8">
        <dgm:presLayoutVars>
          <dgm:chMax val="0"/>
          <dgm:chPref val="0"/>
        </dgm:presLayoutVars>
      </dgm:prSet>
      <dgm:spPr/>
    </dgm:pt>
    <dgm:pt modelId="{D16A9C96-3049-450F-9A05-290B7E811381}" type="pres">
      <dgm:prSet presAssocID="{54A8FD28-0228-4313-ADC3-48DB6DD36BEE}" presName="sibTrans" presStyleCnt="0"/>
      <dgm:spPr/>
    </dgm:pt>
    <dgm:pt modelId="{F010C68A-72FE-4837-ABCC-0D0D8FF980E2}" type="pres">
      <dgm:prSet presAssocID="{3B80B5E3-DAAD-4EF2-A486-1DE06557AFB5}" presName="compNode" presStyleCnt="0"/>
      <dgm:spPr/>
    </dgm:pt>
    <dgm:pt modelId="{933B84C4-32AE-44EA-914F-C2BDDDD5C456}" type="pres">
      <dgm:prSet presAssocID="{3B80B5E3-DAAD-4EF2-A486-1DE06557AFB5}" presName="bgRect" presStyleLbl="bgShp" presStyleIdx="5" presStyleCnt="8"/>
      <dgm:spPr/>
    </dgm:pt>
    <dgm:pt modelId="{4D1CAAC4-786E-43FF-99AB-34E025E863EE}" type="pres">
      <dgm:prSet presAssocID="{3B80B5E3-DAAD-4EF2-A486-1DE06557AFB5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D063BD3-7AAA-4BA7-B215-2F2C29941AF8}" type="pres">
      <dgm:prSet presAssocID="{3B80B5E3-DAAD-4EF2-A486-1DE06557AFB5}" presName="spaceRect" presStyleCnt="0"/>
      <dgm:spPr/>
    </dgm:pt>
    <dgm:pt modelId="{0C530F25-86C2-4536-A2BE-F99C87D00FCC}" type="pres">
      <dgm:prSet presAssocID="{3B80B5E3-DAAD-4EF2-A486-1DE06557AFB5}" presName="parTx" presStyleLbl="revTx" presStyleIdx="5" presStyleCnt="8">
        <dgm:presLayoutVars>
          <dgm:chMax val="0"/>
          <dgm:chPref val="0"/>
        </dgm:presLayoutVars>
      </dgm:prSet>
      <dgm:spPr/>
    </dgm:pt>
    <dgm:pt modelId="{7CDECEFD-4156-4A0B-8A77-BE34AD9106EA}" type="pres">
      <dgm:prSet presAssocID="{9F6F6360-F4A5-4535-9A90-6EEED9E34F1C}" presName="sibTrans" presStyleCnt="0"/>
      <dgm:spPr/>
    </dgm:pt>
    <dgm:pt modelId="{40063BE8-65C6-4D24-A6DE-9629EF0368BA}" type="pres">
      <dgm:prSet presAssocID="{758C1A70-67D8-439A-90DE-DA83EEC4E25C}" presName="compNode" presStyleCnt="0"/>
      <dgm:spPr/>
    </dgm:pt>
    <dgm:pt modelId="{362DA007-6E6B-44E8-A1A3-3FAF6E810A13}" type="pres">
      <dgm:prSet presAssocID="{758C1A70-67D8-439A-90DE-DA83EEC4E25C}" presName="bgRect" presStyleLbl="bgShp" presStyleIdx="6" presStyleCnt="8"/>
      <dgm:spPr/>
    </dgm:pt>
    <dgm:pt modelId="{27425B48-C991-4092-AACF-39457A801937}" type="pres">
      <dgm:prSet presAssocID="{758C1A70-67D8-439A-90DE-DA83EEC4E25C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42E8352-4FBB-4213-B5EE-11B4DE5887FA}" type="pres">
      <dgm:prSet presAssocID="{758C1A70-67D8-439A-90DE-DA83EEC4E25C}" presName="spaceRect" presStyleCnt="0"/>
      <dgm:spPr/>
    </dgm:pt>
    <dgm:pt modelId="{7FD08334-FE49-4CEF-BE91-2B6CB147AC28}" type="pres">
      <dgm:prSet presAssocID="{758C1A70-67D8-439A-90DE-DA83EEC4E25C}" presName="parTx" presStyleLbl="revTx" presStyleIdx="6" presStyleCnt="8">
        <dgm:presLayoutVars>
          <dgm:chMax val="0"/>
          <dgm:chPref val="0"/>
        </dgm:presLayoutVars>
      </dgm:prSet>
      <dgm:spPr/>
    </dgm:pt>
    <dgm:pt modelId="{5CDB30C7-B1DA-413B-A7B8-70B1A2BCAD12}" type="pres">
      <dgm:prSet presAssocID="{C7F1FD1E-E8E2-475B-8F88-67AB06AA6C9F}" presName="sibTrans" presStyleCnt="0"/>
      <dgm:spPr/>
    </dgm:pt>
    <dgm:pt modelId="{45835AC1-8C91-42EE-B1BF-2396D69D2E19}" type="pres">
      <dgm:prSet presAssocID="{02E9ACC8-FA34-4E79-8CDF-2434C4127F1C}" presName="compNode" presStyleCnt="0"/>
      <dgm:spPr/>
    </dgm:pt>
    <dgm:pt modelId="{13F4E27B-7370-4158-BEC3-FF9A79108F4D}" type="pres">
      <dgm:prSet presAssocID="{02E9ACC8-FA34-4E79-8CDF-2434C4127F1C}" presName="bgRect" presStyleLbl="bgShp" presStyleIdx="7" presStyleCnt="8"/>
      <dgm:spPr/>
    </dgm:pt>
    <dgm:pt modelId="{A3419E78-C7E6-4F1A-A9ED-95428E7271E2}" type="pres">
      <dgm:prSet presAssocID="{02E9ACC8-FA34-4E79-8CDF-2434C4127F1C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ellow and blue symbols"/>
        </a:ext>
      </dgm:extLst>
    </dgm:pt>
    <dgm:pt modelId="{C6F62B2A-6E30-439B-9B4D-7F3ADBDEFA7F}" type="pres">
      <dgm:prSet presAssocID="{02E9ACC8-FA34-4E79-8CDF-2434C4127F1C}" presName="spaceRect" presStyleCnt="0"/>
      <dgm:spPr/>
    </dgm:pt>
    <dgm:pt modelId="{71FF242F-DD5C-484C-B45A-8894E959BF55}" type="pres">
      <dgm:prSet presAssocID="{02E9ACC8-FA34-4E79-8CDF-2434C4127F1C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61330215-9930-40CB-A1E2-21FB3A3E4A50}" srcId="{0D8105A6-A070-4845-AF83-B09F9EA9A6A7}" destId="{85D69839-3A0F-4DD1-AF6E-45CC112F5C53}" srcOrd="4" destOrd="0" parTransId="{AA399154-6A78-49CC-9664-6F89064319FE}" sibTransId="{54A8FD28-0228-4313-ADC3-48DB6DD36BEE}"/>
    <dgm:cxn modelId="{F31C3B19-4B96-43BD-A192-C89458CB6EDA}" srcId="{0D8105A6-A070-4845-AF83-B09F9EA9A6A7}" destId="{758C1A70-67D8-439A-90DE-DA83EEC4E25C}" srcOrd="6" destOrd="0" parTransId="{8954A435-179E-443A-BF30-C80D1BC5DC42}" sibTransId="{C7F1FD1E-E8E2-475B-8F88-67AB06AA6C9F}"/>
    <dgm:cxn modelId="{9AA2E922-CE3D-4E37-96FA-0E23FAAE9F10}" type="presOf" srcId="{B8A9E7DA-1B67-4905-8D4A-5607B69902BE}" destId="{0F9C0C33-820D-4EBB-A25E-8BAFD4663FCC}" srcOrd="0" destOrd="0" presId="urn:microsoft.com/office/officeart/2018/2/layout/IconVerticalSolidList"/>
    <dgm:cxn modelId="{43BEA82A-3B85-425C-8607-9854241A14DC}" type="presOf" srcId="{0D8105A6-A070-4845-AF83-B09F9EA9A6A7}" destId="{AE465C93-0D45-4FCA-8459-205C713CFEA9}" srcOrd="0" destOrd="0" presId="urn:microsoft.com/office/officeart/2018/2/layout/IconVerticalSolidList"/>
    <dgm:cxn modelId="{DCFB8730-1964-478F-9DF7-55ABBF6712A6}" type="presOf" srcId="{85D69839-3A0F-4DD1-AF6E-45CC112F5C53}" destId="{5EDB873B-7B9B-4BB1-9126-4C7BE6A89F29}" srcOrd="0" destOrd="0" presId="urn:microsoft.com/office/officeart/2018/2/layout/IconVerticalSolidList"/>
    <dgm:cxn modelId="{494EAD30-123F-4524-897F-9839BC3A699A}" type="presOf" srcId="{AB1B451F-9D65-4E17-B7C9-70D7F7862FDD}" destId="{D4CFFA96-C1D7-4BDA-AB6E-0BE8DD15953D}" srcOrd="0" destOrd="0" presId="urn:microsoft.com/office/officeart/2018/2/layout/IconVerticalSolidList"/>
    <dgm:cxn modelId="{CC5FCC3A-EEA4-4D4A-829D-D8E2B855D4D8}" type="presOf" srcId="{3B80B5E3-DAAD-4EF2-A486-1DE06557AFB5}" destId="{0C530F25-86C2-4536-A2BE-F99C87D00FCC}" srcOrd="0" destOrd="0" presId="urn:microsoft.com/office/officeart/2018/2/layout/IconVerticalSolidList"/>
    <dgm:cxn modelId="{72ECF746-7B1C-4067-AA83-F11D713C4F3B}" srcId="{0D8105A6-A070-4845-AF83-B09F9EA9A6A7}" destId="{AB1B451F-9D65-4E17-B7C9-70D7F7862FDD}" srcOrd="2" destOrd="0" parTransId="{57EE41E8-8FF2-4434-BADA-DF39BD8FD2B4}" sibTransId="{B2581928-A189-4885-B9AD-5620A98E967E}"/>
    <dgm:cxn modelId="{D4D6C078-F3D4-41AD-AE97-4C7430AA28FF}" type="presOf" srcId="{47E4DA95-67C7-4E6F-99E0-DCBD10365B73}" destId="{39CDDDB5-E872-4C9D-9D1F-E941BFF880A7}" srcOrd="0" destOrd="0" presId="urn:microsoft.com/office/officeart/2018/2/layout/IconVerticalSolidList"/>
    <dgm:cxn modelId="{A2EC3D7D-0D80-4446-A443-E0A3F1A30ED9}" srcId="{0D8105A6-A070-4845-AF83-B09F9EA9A6A7}" destId="{47E4DA95-67C7-4E6F-99E0-DCBD10365B73}" srcOrd="1" destOrd="0" parTransId="{4EE3DF22-0A64-494F-B9CA-40FF268ED228}" sibTransId="{2EE1592C-3BFB-4D63-8AAE-F0A03D3E0324}"/>
    <dgm:cxn modelId="{824CA8A2-A6C3-4E63-B7C8-7507E69F2798}" type="presOf" srcId="{E9174CA7-58E5-440C-B2E1-9BBB6129D207}" destId="{C445C665-7EFF-4F59-AE74-44CB06C86AD8}" srcOrd="0" destOrd="0" presId="urn:microsoft.com/office/officeart/2018/2/layout/IconVerticalSolidList"/>
    <dgm:cxn modelId="{766A1BA5-5430-4503-88FD-1CF19306EAB9}" type="presOf" srcId="{758C1A70-67D8-439A-90DE-DA83EEC4E25C}" destId="{7FD08334-FE49-4CEF-BE91-2B6CB147AC28}" srcOrd="0" destOrd="0" presId="urn:microsoft.com/office/officeart/2018/2/layout/IconVerticalSolidList"/>
    <dgm:cxn modelId="{7928F1AD-6BEE-4E6C-93D8-08F5D99D5F38}" srcId="{0D8105A6-A070-4845-AF83-B09F9EA9A6A7}" destId="{3B80B5E3-DAAD-4EF2-A486-1DE06557AFB5}" srcOrd="5" destOrd="0" parTransId="{F568659F-A332-466F-93B9-E38446C7F7EB}" sibTransId="{9F6F6360-F4A5-4535-9A90-6EEED9E34F1C}"/>
    <dgm:cxn modelId="{03FAA7BC-E4D8-419F-8FF8-EE0AB5DAE9B7}" type="presOf" srcId="{02E9ACC8-FA34-4E79-8CDF-2434C4127F1C}" destId="{71FF242F-DD5C-484C-B45A-8894E959BF55}" srcOrd="0" destOrd="0" presId="urn:microsoft.com/office/officeart/2018/2/layout/IconVerticalSolidList"/>
    <dgm:cxn modelId="{79CE21CD-CE91-49BE-AC3C-BE80DBC41B72}" srcId="{0D8105A6-A070-4845-AF83-B09F9EA9A6A7}" destId="{E9174CA7-58E5-440C-B2E1-9BBB6129D207}" srcOrd="3" destOrd="0" parTransId="{0BCD18E7-3634-44C2-8EE5-BC213637A501}" sibTransId="{88B9E694-BF2F-41A1-8CA7-8F3C23D11176}"/>
    <dgm:cxn modelId="{A097F2FC-226E-4B3C-9E7A-C8E1362FC423}" srcId="{0D8105A6-A070-4845-AF83-B09F9EA9A6A7}" destId="{02E9ACC8-FA34-4E79-8CDF-2434C4127F1C}" srcOrd="7" destOrd="0" parTransId="{C856297C-093B-4EC6-A5B4-9CC6EF9806AF}" sibTransId="{F48BFC19-8F61-4716-81A0-FBCAF15C10BD}"/>
    <dgm:cxn modelId="{63B349FD-AE97-4879-8924-19D0A8D43B85}" srcId="{0D8105A6-A070-4845-AF83-B09F9EA9A6A7}" destId="{B8A9E7DA-1B67-4905-8D4A-5607B69902BE}" srcOrd="0" destOrd="0" parTransId="{F75C1A34-F732-4EFA-AC54-3939D1858AF0}" sibTransId="{42A30D78-68F4-40F0-95E8-E62C9A771A3E}"/>
    <dgm:cxn modelId="{BD9648B2-B6D3-45CD-9460-330143EDAB9C}" type="presParOf" srcId="{AE465C93-0D45-4FCA-8459-205C713CFEA9}" destId="{787084DF-C276-4C2C-A176-3415BB2E3745}" srcOrd="0" destOrd="0" presId="urn:microsoft.com/office/officeart/2018/2/layout/IconVerticalSolidList"/>
    <dgm:cxn modelId="{65364FA1-7694-4638-A886-522437538A4D}" type="presParOf" srcId="{787084DF-C276-4C2C-A176-3415BB2E3745}" destId="{AB19F33F-5506-4B44-A237-295756FDCE9F}" srcOrd="0" destOrd="0" presId="urn:microsoft.com/office/officeart/2018/2/layout/IconVerticalSolidList"/>
    <dgm:cxn modelId="{38E026B5-63A7-4CA6-AD2E-0CE7ADB4D4A2}" type="presParOf" srcId="{787084DF-C276-4C2C-A176-3415BB2E3745}" destId="{86AFAA2E-88D8-4204-B231-5D88813779D5}" srcOrd="1" destOrd="0" presId="urn:microsoft.com/office/officeart/2018/2/layout/IconVerticalSolidList"/>
    <dgm:cxn modelId="{1A4E6EAE-D202-4C52-8D1E-8AF09B55F099}" type="presParOf" srcId="{787084DF-C276-4C2C-A176-3415BB2E3745}" destId="{B43F0D9E-14E8-4D92-9CB5-CDFC77BCF725}" srcOrd="2" destOrd="0" presId="urn:microsoft.com/office/officeart/2018/2/layout/IconVerticalSolidList"/>
    <dgm:cxn modelId="{7605FE4C-669E-4D70-93BF-E84056B19301}" type="presParOf" srcId="{787084DF-C276-4C2C-A176-3415BB2E3745}" destId="{0F9C0C33-820D-4EBB-A25E-8BAFD4663FCC}" srcOrd="3" destOrd="0" presId="urn:microsoft.com/office/officeart/2018/2/layout/IconVerticalSolidList"/>
    <dgm:cxn modelId="{A0A55A0B-F45E-460B-81A6-CCF8265AF8A8}" type="presParOf" srcId="{AE465C93-0D45-4FCA-8459-205C713CFEA9}" destId="{291F4651-F54D-411B-BA67-3863C44A461B}" srcOrd="1" destOrd="0" presId="urn:microsoft.com/office/officeart/2018/2/layout/IconVerticalSolidList"/>
    <dgm:cxn modelId="{8DC95EBB-143C-474D-B333-F8627E1A331E}" type="presParOf" srcId="{AE465C93-0D45-4FCA-8459-205C713CFEA9}" destId="{F5871E76-78EE-456F-AA44-0BC91DFA512B}" srcOrd="2" destOrd="0" presId="urn:microsoft.com/office/officeart/2018/2/layout/IconVerticalSolidList"/>
    <dgm:cxn modelId="{DD7F97E9-93D1-450F-87D2-C0E8B6C36A0B}" type="presParOf" srcId="{F5871E76-78EE-456F-AA44-0BC91DFA512B}" destId="{BF4A252F-83D9-4F01-8286-28708B041F89}" srcOrd="0" destOrd="0" presId="urn:microsoft.com/office/officeart/2018/2/layout/IconVerticalSolidList"/>
    <dgm:cxn modelId="{13C3B24D-F714-42A6-A97B-63E3FC4B01EE}" type="presParOf" srcId="{F5871E76-78EE-456F-AA44-0BC91DFA512B}" destId="{F97C1EF3-E94D-4C20-90A9-DFBC0334B71C}" srcOrd="1" destOrd="0" presId="urn:microsoft.com/office/officeart/2018/2/layout/IconVerticalSolidList"/>
    <dgm:cxn modelId="{73353613-B61B-46BA-B768-F2417E4F230D}" type="presParOf" srcId="{F5871E76-78EE-456F-AA44-0BC91DFA512B}" destId="{8E20B6E7-86F2-4675-B29A-E7FBA6B3E817}" srcOrd="2" destOrd="0" presId="urn:microsoft.com/office/officeart/2018/2/layout/IconVerticalSolidList"/>
    <dgm:cxn modelId="{D6C2AD63-576E-407B-882B-C488F6EEF186}" type="presParOf" srcId="{F5871E76-78EE-456F-AA44-0BC91DFA512B}" destId="{39CDDDB5-E872-4C9D-9D1F-E941BFF880A7}" srcOrd="3" destOrd="0" presId="urn:microsoft.com/office/officeart/2018/2/layout/IconVerticalSolidList"/>
    <dgm:cxn modelId="{71D4E703-9964-489B-A64A-4B950F43CC80}" type="presParOf" srcId="{AE465C93-0D45-4FCA-8459-205C713CFEA9}" destId="{C406C944-102F-469A-8E09-255809843981}" srcOrd="3" destOrd="0" presId="urn:microsoft.com/office/officeart/2018/2/layout/IconVerticalSolidList"/>
    <dgm:cxn modelId="{FB13741D-6E90-491E-AF79-CB4B7ABBBE03}" type="presParOf" srcId="{AE465C93-0D45-4FCA-8459-205C713CFEA9}" destId="{1166E6BF-CCF1-448E-AD7A-8504CEFC7A2E}" srcOrd="4" destOrd="0" presId="urn:microsoft.com/office/officeart/2018/2/layout/IconVerticalSolidList"/>
    <dgm:cxn modelId="{216AFACA-823E-439C-98FB-8DF9EC61F424}" type="presParOf" srcId="{1166E6BF-CCF1-448E-AD7A-8504CEFC7A2E}" destId="{B941209D-8DF8-4D85-9C11-001079628504}" srcOrd="0" destOrd="0" presId="urn:microsoft.com/office/officeart/2018/2/layout/IconVerticalSolidList"/>
    <dgm:cxn modelId="{C14F9836-CA11-4C05-ADCA-739D51961D4A}" type="presParOf" srcId="{1166E6BF-CCF1-448E-AD7A-8504CEFC7A2E}" destId="{EEA973C8-FA00-4360-8390-43C54A154ADE}" srcOrd="1" destOrd="0" presId="urn:microsoft.com/office/officeart/2018/2/layout/IconVerticalSolidList"/>
    <dgm:cxn modelId="{7A563FE7-EDA1-4B1F-A8C4-C6C5F11D05F0}" type="presParOf" srcId="{1166E6BF-CCF1-448E-AD7A-8504CEFC7A2E}" destId="{6892F81E-6B63-4A8D-9B04-C83D33676F00}" srcOrd="2" destOrd="0" presId="urn:microsoft.com/office/officeart/2018/2/layout/IconVerticalSolidList"/>
    <dgm:cxn modelId="{FAFE15B7-E952-469F-83DC-C2A8AB7DC8DD}" type="presParOf" srcId="{1166E6BF-CCF1-448E-AD7A-8504CEFC7A2E}" destId="{D4CFFA96-C1D7-4BDA-AB6E-0BE8DD15953D}" srcOrd="3" destOrd="0" presId="urn:microsoft.com/office/officeart/2018/2/layout/IconVerticalSolidList"/>
    <dgm:cxn modelId="{E965C1DE-D976-4872-ACE8-5121A964CC2B}" type="presParOf" srcId="{AE465C93-0D45-4FCA-8459-205C713CFEA9}" destId="{978448CE-9FAD-4079-8969-1E0D9FFE4151}" srcOrd="5" destOrd="0" presId="urn:microsoft.com/office/officeart/2018/2/layout/IconVerticalSolidList"/>
    <dgm:cxn modelId="{9E1B3D23-4152-45CC-8796-7636DF86880C}" type="presParOf" srcId="{AE465C93-0D45-4FCA-8459-205C713CFEA9}" destId="{5A4124CE-B56E-4938-A3E1-24B7B79C7EE1}" srcOrd="6" destOrd="0" presId="urn:microsoft.com/office/officeart/2018/2/layout/IconVerticalSolidList"/>
    <dgm:cxn modelId="{4EE80AEE-15DC-4414-B6F7-72CEB9B58CCE}" type="presParOf" srcId="{5A4124CE-B56E-4938-A3E1-24B7B79C7EE1}" destId="{B37FC3ED-2B62-40E5-A441-B810A5A24E67}" srcOrd="0" destOrd="0" presId="urn:microsoft.com/office/officeart/2018/2/layout/IconVerticalSolidList"/>
    <dgm:cxn modelId="{CFE4AC6C-1B26-49C6-9F91-F8508EB95431}" type="presParOf" srcId="{5A4124CE-B56E-4938-A3E1-24B7B79C7EE1}" destId="{6A3BE3DE-706F-4186-A815-C9B19AAA989C}" srcOrd="1" destOrd="0" presId="urn:microsoft.com/office/officeart/2018/2/layout/IconVerticalSolidList"/>
    <dgm:cxn modelId="{0DE42FB5-DE08-4633-9207-4A9C42E62820}" type="presParOf" srcId="{5A4124CE-B56E-4938-A3E1-24B7B79C7EE1}" destId="{01C3C75C-80E6-4652-A062-829E3D5BD4F8}" srcOrd="2" destOrd="0" presId="urn:microsoft.com/office/officeart/2018/2/layout/IconVerticalSolidList"/>
    <dgm:cxn modelId="{744439B2-1F23-4CF2-B9FA-589EA14A2BBD}" type="presParOf" srcId="{5A4124CE-B56E-4938-A3E1-24B7B79C7EE1}" destId="{C445C665-7EFF-4F59-AE74-44CB06C86AD8}" srcOrd="3" destOrd="0" presId="urn:microsoft.com/office/officeart/2018/2/layout/IconVerticalSolidList"/>
    <dgm:cxn modelId="{48AAC0B0-B437-406C-897F-850621778517}" type="presParOf" srcId="{AE465C93-0D45-4FCA-8459-205C713CFEA9}" destId="{98745AA0-D6FA-4F9E-A659-94755843B7B9}" srcOrd="7" destOrd="0" presId="urn:microsoft.com/office/officeart/2018/2/layout/IconVerticalSolidList"/>
    <dgm:cxn modelId="{D0846685-C3C2-4DDD-8B01-B89B96F867FB}" type="presParOf" srcId="{AE465C93-0D45-4FCA-8459-205C713CFEA9}" destId="{C47C660F-25AD-4F0E-AB23-F9A6C981F8B4}" srcOrd="8" destOrd="0" presId="urn:microsoft.com/office/officeart/2018/2/layout/IconVerticalSolidList"/>
    <dgm:cxn modelId="{6522E5A6-9F5D-480F-A0EA-FF3A6B57C5C9}" type="presParOf" srcId="{C47C660F-25AD-4F0E-AB23-F9A6C981F8B4}" destId="{5FD10B31-70DF-43DA-990F-441A71E8660D}" srcOrd="0" destOrd="0" presId="urn:microsoft.com/office/officeart/2018/2/layout/IconVerticalSolidList"/>
    <dgm:cxn modelId="{742C7D87-906A-43B2-8F71-F76BCD107E8F}" type="presParOf" srcId="{C47C660F-25AD-4F0E-AB23-F9A6C981F8B4}" destId="{F24F7028-8970-4155-80E9-279194A96D8D}" srcOrd="1" destOrd="0" presId="urn:microsoft.com/office/officeart/2018/2/layout/IconVerticalSolidList"/>
    <dgm:cxn modelId="{6898C29D-4A17-444D-9E0A-05649FD19020}" type="presParOf" srcId="{C47C660F-25AD-4F0E-AB23-F9A6C981F8B4}" destId="{B921F0D6-174F-436D-AD38-975450462014}" srcOrd="2" destOrd="0" presId="urn:microsoft.com/office/officeart/2018/2/layout/IconVerticalSolidList"/>
    <dgm:cxn modelId="{39E14E87-9DDF-4372-8404-567EC104081B}" type="presParOf" srcId="{C47C660F-25AD-4F0E-AB23-F9A6C981F8B4}" destId="{5EDB873B-7B9B-4BB1-9126-4C7BE6A89F29}" srcOrd="3" destOrd="0" presId="urn:microsoft.com/office/officeart/2018/2/layout/IconVerticalSolidList"/>
    <dgm:cxn modelId="{E48E59A9-4217-4271-9244-F4B68355EBCA}" type="presParOf" srcId="{AE465C93-0D45-4FCA-8459-205C713CFEA9}" destId="{D16A9C96-3049-450F-9A05-290B7E811381}" srcOrd="9" destOrd="0" presId="urn:microsoft.com/office/officeart/2018/2/layout/IconVerticalSolidList"/>
    <dgm:cxn modelId="{A2D41744-8579-4D41-856F-BDD135498374}" type="presParOf" srcId="{AE465C93-0D45-4FCA-8459-205C713CFEA9}" destId="{F010C68A-72FE-4837-ABCC-0D0D8FF980E2}" srcOrd="10" destOrd="0" presId="urn:microsoft.com/office/officeart/2018/2/layout/IconVerticalSolidList"/>
    <dgm:cxn modelId="{B99E8423-8F04-445B-AAFD-B85225D043DB}" type="presParOf" srcId="{F010C68A-72FE-4837-ABCC-0D0D8FF980E2}" destId="{933B84C4-32AE-44EA-914F-C2BDDDD5C456}" srcOrd="0" destOrd="0" presId="urn:microsoft.com/office/officeart/2018/2/layout/IconVerticalSolidList"/>
    <dgm:cxn modelId="{12152F93-5869-4E3E-8CA8-BFE62FAD2925}" type="presParOf" srcId="{F010C68A-72FE-4837-ABCC-0D0D8FF980E2}" destId="{4D1CAAC4-786E-43FF-99AB-34E025E863EE}" srcOrd="1" destOrd="0" presId="urn:microsoft.com/office/officeart/2018/2/layout/IconVerticalSolidList"/>
    <dgm:cxn modelId="{9B8B42C9-3CB0-428E-898A-6B293B28459D}" type="presParOf" srcId="{F010C68A-72FE-4837-ABCC-0D0D8FF980E2}" destId="{CD063BD3-7AAA-4BA7-B215-2F2C29941AF8}" srcOrd="2" destOrd="0" presId="urn:microsoft.com/office/officeart/2018/2/layout/IconVerticalSolidList"/>
    <dgm:cxn modelId="{8AD2E318-D1BB-41AE-8861-EFFD96FF2026}" type="presParOf" srcId="{F010C68A-72FE-4837-ABCC-0D0D8FF980E2}" destId="{0C530F25-86C2-4536-A2BE-F99C87D00FCC}" srcOrd="3" destOrd="0" presId="urn:microsoft.com/office/officeart/2018/2/layout/IconVerticalSolidList"/>
    <dgm:cxn modelId="{2A94E8FB-3796-49E7-8688-C3FE4688DF0B}" type="presParOf" srcId="{AE465C93-0D45-4FCA-8459-205C713CFEA9}" destId="{7CDECEFD-4156-4A0B-8A77-BE34AD9106EA}" srcOrd="11" destOrd="0" presId="urn:microsoft.com/office/officeart/2018/2/layout/IconVerticalSolidList"/>
    <dgm:cxn modelId="{273732EF-A81E-48A5-846B-FF885B300049}" type="presParOf" srcId="{AE465C93-0D45-4FCA-8459-205C713CFEA9}" destId="{40063BE8-65C6-4D24-A6DE-9629EF0368BA}" srcOrd="12" destOrd="0" presId="urn:microsoft.com/office/officeart/2018/2/layout/IconVerticalSolidList"/>
    <dgm:cxn modelId="{E2FF21FA-1A65-441A-B13C-A6AB451554D5}" type="presParOf" srcId="{40063BE8-65C6-4D24-A6DE-9629EF0368BA}" destId="{362DA007-6E6B-44E8-A1A3-3FAF6E810A13}" srcOrd="0" destOrd="0" presId="urn:microsoft.com/office/officeart/2018/2/layout/IconVerticalSolidList"/>
    <dgm:cxn modelId="{E57602F5-5BFC-43C6-86C8-D8FE108550CD}" type="presParOf" srcId="{40063BE8-65C6-4D24-A6DE-9629EF0368BA}" destId="{27425B48-C991-4092-AACF-39457A801937}" srcOrd="1" destOrd="0" presId="urn:microsoft.com/office/officeart/2018/2/layout/IconVerticalSolidList"/>
    <dgm:cxn modelId="{2C4A498B-4EA2-4608-9F73-C7AB6127EE63}" type="presParOf" srcId="{40063BE8-65C6-4D24-A6DE-9629EF0368BA}" destId="{942E8352-4FBB-4213-B5EE-11B4DE5887FA}" srcOrd="2" destOrd="0" presId="urn:microsoft.com/office/officeart/2018/2/layout/IconVerticalSolidList"/>
    <dgm:cxn modelId="{2C55DCF4-8888-4FE6-90BD-E04D1960C7FA}" type="presParOf" srcId="{40063BE8-65C6-4D24-A6DE-9629EF0368BA}" destId="{7FD08334-FE49-4CEF-BE91-2B6CB147AC28}" srcOrd="3" destOrd="0" presId="urn:microsoft.com/office/officeart/2018/2/layout/IconVerticalSolidList"/>
    <dgm:cxn modelId="{2E200EC8-72AE-4D31-88E7-015284F7FCA1}" type="presParOf" srcId="{AE465C93-0D45-4FCA-8459-205C713CFEA9}" destId="{5CDB30C7-B1DA-413B-A7B8-70B1A2BCAD12}" srcOrd="13" destOrd="0" presId="urn:microsoft.com/office/officeart/2018/2/layout/IconVerticalSolidList"/>
    <dgm:cxn modelId="{F49EB8BA-9F52-495B-BA1F-AACA1A2282EF}" type="presParOf" srcId="{AE465C93-0D45-4FCA-8459-205C713CFEA9}" destId="{45835AC1-8C91-42EE-B1BF-2396D69D2E19}" srcOrd="14" destOrd="0" presId="urn:microsoft.com/office/officeart/2018/2/layout/IconVerticalSolidList"/>
    <dgm:cxn modelId="{9978C55D-B413-47DF-90AD-31141A13200C}" type="presParOf" srcId="{45835AC1-8C91-42EE-B1BF-2396D69D2E19}" destId="{13F4E27B-7370-4158-BEC3-FF9A79108F4D}" srcOrd="0" destOrd="0" presId="urn:microsoft.com/office/officeart/2018/2/layout/IconVerticalSolidList"/>
    <dgm:cxn modelId="{13D6C737-5991-42DE-AE73-8EC8F3B3A440}" type="presParOf" srcId="{45835AC1-8C91-42EE-B1BF-2396D69D2E19}" destId="{A3419E78-C7E6-4F1A-A9ED-95428E7271E2}" srcOrd="1" destOrd="0" presId="urn:microsoft.com/office/officeart/2018/2/layout/IconVerticalSolidList"/>
    <dgm:cxn modelId="{8DD78801-9E0B-48BE-A466-441588CD67FA}" type="presParOf" srcId="{45835AC1-8C91-42EE-B1BF-2396D69D2E19}" destId="{C6F62B2A-6E30-439B-9B4D-7F3ADBDEFA7F}" srcOrd="2" destOrd="0" presId="urn:microsoft.com/office/officeart/2018/2/layout/IconVerticalSolidList"/>
    <dgm:cxn modelId="{29798418-0209-4E09-824C-B73CE6AC5ADB}" type="presParOf" srcId="{45835AC1-8C91-42EE-B1BF-2396D69D2E19}" destId="{71FF242F-DD5C-484C-B45A-8894E959BF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F0B179-46D1-4DF1-ABDB-1C002B4C746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3D1F2C-4AD9-41E8-B279-3777D87BFE11}">
      <dgm:prSet/>
      <dgm:spPr/>
      <dgm:t>
        <a:bodyPr/>
        <a:lstStyle/>
        <a:p>
          <a:r>
            <a:rPr lang="en-US"/>
            <a:t>Total hospital revenue steadily increased from 2011 to 2022.</a:t>
          </a:r>
        </a:p>
      </dgm:t>
    </dgm:pt>
    <dgm:pt modelId="{BAF5D57F-3D90-4AF3-850F-DCD49EFB5D32}" type="parTrans" cxnId="{8CC24716-3E69-4313-A0D8-74FF251ECFAA}">
      <dgm:prSet/>
      <dgm:spPr/>
      <dgm:t>
        <a:bodyPr/>
        <a:lstStyle/>
        <a:p>
          <a:endParaRPr lang="en-US"/>
        </a:p>
      </dgm:t>
    </dgm:pt>
    <dgm:pt modelId="{166A31E3-76C5-403C-B722-93349187BABE}" type="sibTrans" cxnId="{8CC24716-3E69-4313-A0D8-74FF251ECFAA}">
      <dgm:prSet/>
      <dgm:spPr/>
      <dgm:t>
        <a:bodyPr/>
        <a:lstStyle/>
        <a:p>
          <a:endParaRPr lang="en-US"/>
        </a:p>
      </dgm:t>
    </dgm:pt>
    <dgm:pt modelId="{9DA131C6-B0BF-4B29-8FE1-16C7C5FF9CC2}">
      <dgm:prSet/>
      <dgm:spPr/>
      <dgm:t>
        <a:bodyPr/>
        <a:lstStyle/>
        <a:p>
          <a:r>
            <a:rPr lang="en-US"/>
            <a:t>Profit margins remain low due to consistently high expense ratios.</a:t>
          </a:r>
        </a:p>
      </dgm:t>
    </dgm:pt>
    <dgm:pt modelId="{00CC05AE-9193-4B5D-8371-431CCBB86DCD}" type="parTrans" cxnId="{9978BC34-DC78-452E-90AB-5EF7EFB0D235}">
      <dgm:prSet/>
      <dgm:spPr/>
      <dgm:t>
        <a:bodyPr/>
        <a:lstStyle/>
        <a:p>
          <a:endParaRPr lang="en-US"/>
        </a:p>
      </dgm:t>
    </dgm:pt>
    <dgm:pt modelId="{DD36C803-1E62-44BC-8655-C9F53341DD65}" type="sibTrans" cxnId="{9978BC34-DC78-452E-90AB-5EF7EFB0D235}">
      <dgm:prSet/>
      <dgm:spPr/>
      <dgm:t>
        <a:bodyPr/>
        <a:lstStyle/>
        <a:p>
          <a:endParaRPr lang="en-US"/>
        </a:p>
      </dgm:t>
    </dgm:pt>
    <dgm:pt modelId="{D3E4F7B5-8FD0-4BE6-9604-BCD8E8540E8E}">
      <dgm:prSet/>
      <dgm:spPr/>
      <dgm:t>
        <a:bodyPr/>
        <a:lstStyle/>
        <a:p>
          <a:r>
            <a:rPr lang="en-US"/>
            <a:t>Occupancy rates declined around 2020 and partially recovered afterward.</a:t>
          </a:r>
        </a:p>
      </dgm:t>
    </dgm:pt>
    <dgm:pt modelId="{1065355C-A298-42C0-961B-E3420DB6C14A}" type="parTrans" cxnId="{05A67ABC-5FE7-4295-9F90-BF820B5431F8}">
      <dgm:prSet/>
      <dgm:spPr/>
      <dgm:t>
        <a:bodyPr/>
        <a:lstStyle/>
        <a:p>
          <a:endParaRPr lang="en-US"/>
        </a:p>
      </dgm:t>
    </dgm:pt>
    <dgm:pt modelId="{085DC9C0-6157-41D7-95B0-E9BEA51F118C}" type="sibTrans" cxnId="{05A67ABC-5FE7-4295-9F90-BF820B5431F8}">
      <dgm:prSet/>
      <dgm:spPr/>
      <dgm:t>
        <a:bodyPr/>
        <a:lstStyle/>
        <a:p>
          <a:endParaRPr lang="en-US"/>
        </a:p>
      </dgm:t>
    </dgm:pt>
    <dgm:pt modelId="{8ADD9AB5-FB0A-4CD2-B9EB-B1FB8F2FC581}">
      <dgm:prSet/>
      <dgm:spPr/>
      <dgm:t>
        <a:bodyPr/>
        <a:lstStyle/>
        <a:p>
          <a:r>
            <a:rPr lang="en-US"/>
            <a:t>California contributes the highest share of total hospital revenue.</a:t>
          </a:r>
        </a:p>
      </dgm:t>
    </dgm:pt>
    <dgm:pt modelId="{6E2C372A-7B33-4DD5-8118-46335D076A8C}" type="parTrans" cxnId="{E103A726-25AB-44C8-A14A-729051F1EC3E}">
      <dgm:prSet/>
      <dgm:spPr/>
      <dgm:t>
        <a:bodyPr/>
        <a:lstStyle/>
        <a:p>
          <a:endParaRPr lang="en-US"/>
        </a:p>
      </dgm:t>
    </dgm:pt>
    <dgm:pt modelId="{2BD790CF-7F15-4E34-90C5-5E1EBD5F930E}" type="sibTrans" cxnId="{E103A726-25AB-44C8-A14A-729051F1EC3E}">
      <dgm:prSet/>
      <dgm:spPr/>
      <dgm:t>
        <a:bodyPr/>
        <a:lstStyle/>
        <a:p>
          <a:endParaRPr lang="en-US"/>
        </a:p>
      </dgm:t>
    </dgm:pt>
    <dgm:pt modelId="{76F75B26-0563-49DF-8ED7-179A2EB7DC57}">
      <dgm:prSet/>
      <dgm:spPr/>
      <dgm:t>
        <a:bodyPr/>
        <a:lstStyle/>
        <a:p>
          <a:r>
            <a:rPr lang="en-US"/>
            <a:t>Significant differences exist in hospital performance across regions and facility types.</a:t>
          </a:r>
        </a:p>
      </dgm:t>
    </dgm:pt>
    <dgm:pt modelId="{A5ECD7A0-4947-4777-9E01-69AEDE566145}" type="parTrans" cxnId="{9439B6C7-78B8-4353-BAB7-5CA0EC3BC451}">
      <dgm:prSet/>
      <dgm:spPr/>
      <dgm:t>
        <a:bodyPr/>
        <a:lstStyle/>
        <a:p>
          <a:endParaRPr lang="en-US"/>
        </a:p>
      </dgm:t>
    </dgm:pt>
    <dgm:pt modelId="{31BE3856-2B5F-4C1B-B087-DA4E5818E175}" type="sibTrans" cxnId="{9439B6C7-78B8-4353-BAB7-5CA0EC3BC451}">
      <dgm:prSet/>
      <dgm:spPr/>
      <dgm:t>
        <a:bodyPr/>
        <a:lstStyle/>
        <a:p>
          <a:endParaRPr lang="en-US"/>
        </a:p>
      </dgm:t>
    </dgm:pt>
    <dgm:pt modelId="{166EA875-F3EC-4AFB-B982-8949A67180AA}" type="pres">
      <dgm:prSet presAssocID="{BAF0B179-46D1-4DF1-ABDB-1C002B4C7461}" presName="vert0" presStyleCnt="0">
        <dgm:presLayoutVars>
          <dgm:dir/>
          <dgm:animOne val="branch"/>
          <dgm:animLvl val="lvl"/>
        </dgm:presLayoutVars>
      </dgm:prSet>
      <dgm:spPr/>
    </dgm:pt>
    <dgm:pt modelId="{4D38C533-E916-4D4D-9FCD-16F5DA255C48}" type="pres">
      <dgm:prSet presAssocID="{E93D1F2C-4AD9-41E8-B279-3777D87BFE11}" presName="thickLine" presStyleLbl="alignNode1" presStyleIdx="0" presStyleCnt="5"/>
      <dgm:spPr/>
    </dgm:pt>
    <dgm:pt modelId="{9294891A-B0E0-4DBB-9342-4AB9D7C50BBC}" type="pres">
      <dgm:prSet presAssocID="{E93D1F2C-4AD9-41E8-B279-3777D87BFE11}" presName="horz1" presStyleCnt="0"/>
      <dgm:spPr/>
    </dgm:pt>
    <dgm:pt modelId="{FBACF339-2B83-4364-A63F-0FFFB4BA8B6C}" type="pres">
      <dgm:prSet presAssocID="{E93D1F2C-4AD9-41E8-B279-3777D87BFE11}" presName="tx1" presStyleLbl="revTx" presStyleIdx="0" presStyleCnt="5"/>
      <dgm:spPr/>
    </dgm:pt>
    <dgm:pt modelId="{66C37B3B-97AC-4CAA-ADB1-987C80BA1DF0}" type="pres">
      <dgm:prSet presAssocID="{E93D1F2C-4AD9-41E8-B279-3777D87BFE11}" presName="vert1" presStyleCnt="0"/>
      <dgm:spPr/>
    </dgm:pt>
    <dgm:pt modelId="{918428C9-D4F4-4DCD-96F0-D1ABA60C479D}" type="pres">
      <dgm:prSet presAssocID="{9DA131C6-B0BF-4B29-8FE1-16C7C5FF9CC2}" presName="thickLine" presStyleLbl="alignNode1" presStyleIdx="1" presStyleCnt="5"/>
      <dgm:spPr/>
    </dgm:pt>
    <dgm:pt modelId="{9F6CF6AA-CE60-441C-8D0F-53AC2D8B02A2}" type="pres">
      <dgm:prSet presAssocID="{9DA131C6-B0BF-4B29-8FE1-16C7C5FF9CC2}" presName="horz1" presStyleCnt="0"/>
      <dgm:spPr/>
    </dgm:pt>
    <dgm:pt modelId="{36C0B8ED-AC57-41FC-8995-D14FCAF31720}" type="pres">
      <dgm:prSet presAssocID="{9DA131C6-B0BF-4B29-8FE1-16C7C5FF9CC2}" presName="tx1" presStyleLbl="revTx" presStyleIdx="1" presStyleCnt="5"/>
      <dgm:spPr/>
    </dgm:pt>
    <dgm:pt modelId="{397F2892-0DEB-40FF-A5B9-6BD717F976ED}" type="pres">
      <dgm:prSet presAssocID="{9DA131C6-B0BF-4B29-8FE1-16C7C5FF9CC2}" presName="vert1" presStyleCnt="0"/>
      <dgm:spPr/>
    </dgm:pt>
    <dgm:pt modelId="{5B6152EB-FB57-4AF7-8412-8CF137B9F6EE}" type="pres">
      <dgm:prSet presAssocID="{D3E4F7B5-8FD0-4BE6-9604-BCD8E8540E8E}" presName="thickLine" presStyleLbl="alignNode1" presStyleIdx="2" presStyleCnt="5"/>
      <dgm:spPr/>
    </dgm:pt>
    <dgm:pt modelId="{CDD7A153-74E9-4C42-9941-DA66F7E74957}" type="pres">
      <dgm:prSet presAssocID="{D3E4F7B5-8FD0-4BE6-9604-BCD8E8540E8E}" presName="horz1" presStyleCnt="0"/>
      <dgm:spPr/>
    </dgm:pt>
    <dgm:pt modelId="{9FD6087D-5BD0-4713-A5ED-5EF405C3229C}" type="pres">
      <dgm:prSet presAssocID="{D3E4F7B5-8FD0-4BE6-9604-BCD8E8540E8E}" presName="tx1" presStyleLbl="revTx" presStyleIdx="2" presStyleCnt="5"/>
      <dgm:spPr/>
    </dgm:pt>
    <dgm:pt modelId="{BA09B763-E800-428F-8654-3C5AFCF5EDDC}" type="pres">
      <dgm:prSet presAssocID="{D3E4F7B5-8FD0-4BE6-9604-BCD8E8540E8E}" presName="vert1" presStyleCnt="0"/>
      <dgm:spPr/>
    </dgm:pt>
    <dgm:pt modelId="{6F7A9432-F68E-4C4C-978A-ACABFC5DCD43}" type="pres">
      <dgm:prSet presAssocID="{8ADD9AB5-FB0A-4CD2-B9EB-B1FB8F2FC581}" presName="thickLine" presStyleLbl="alignNode1" presStyleIdx="3" presStyleCnt="5"/>
      <dgm:spPr/>
    </dgm:pt>
    <dgm:pt modelId="{1F77D3F6-0495-48D5-96E5-3103E02CB459}" type="pres">
      <dgm:prSet presAssocID="{8ADD9AB5-FB0A-4CD2-B9EB-B1FB8F2FC581}" presName="horz1" presStyleCnt="0"/>
      <dgm:spPr/>
    </dgm:pt>
    <dgm:pt modelId="{03317631-4211-4467-A343-B4E284A18A24}" type="pres">
      <dgm:prSet presAssocID="{8ADD9AB5-FB0A-4CD2-B9EB-B1FB8F2FC581}" presName="tx1" presStyleLbl="revTx" presStyleIdx="3" presStyleCnt="5"/>
      <dgm:spPr/>
    </dgm:pt>
    <dgm:pt modelId="{2ECF95E3-204E-4EED-9117-1C98065027F8}" type="pres">
      <dgm:prSet presAssocID="{8ADD9AB5-FB0A-4CD2-B9EB-B1FB8F2FC581}" presName="vert1" presStyleCnt="0"/>
      <dgm:spPr/>
    </dgm:pt>
    <dgm:pt modelId="{B7974305-1371-4544-BA5A-F5CCFE1928D9}" type="pres">
      <dgm:prSet presAssocID="{76F75B26-0563-49DF-8ED7-179A2EB7DC57}" presName="thickLine" presStyleLbl="alignNode1" presStyleIdx="4" presStyleCnt="5"/>
      <dgm:spPr/>
    </dgm:pt>
    <dgm:pt modelId="{A9F47511-0F54-40BD-8E22-A7D62F20DC9E}" type="pres">
      <dgm:prSet presAssocID="{76F75B26-0563-49DF-8ED7-179A2EB7DC57}" presName="horz1" presStyleCnt="0"/>
      <dgm:spPr/>
    </dgm:pt>
    <dgm:pt modelId="{8C042729-2E88-484C-8E66-F47140223E2D}" type="pres">
      <dgm:prSet presAssocID="{76F75B26-0563-49DF-8ED7-179A2EB7DC57}" presName="tx1" presStyleLbl="revTx" presStyleIdx="4" presStyleCnt="5"/>
      <dgm:spPr/>
    </dgm:pt>
    <dgm:pt modelId="{B1091572-BC4A-4C43-AEA5-8C386AA92206}" type="pres">
      <dgm:prSet presAssocID="{76F75B26-0563-49DF-8ED7-179A2EB7DC57}" presName="vert1" presStyleCnt="0"/>
      <dgm:spPr/>
    </dgm:pt>
  </dgm:ptLst>
  <dgm:cxnLst>
    <dgm:cxn modelId="{8CC24716-3E69-4313-A0D8-74FF251ECFAA}" srcId="{BAF0B179-46D1-4DF1-ABDB-1C002B4C7461}" destId="{E93D1F2C-4AD9-41E8-B279-3777D87BFE11}" srcOrd="0" destOrd="0" parTransId="{BAF5D57F-3D90-4AF3-850F-DCD49EFB5D32}" sibTransId="{166A31E3-76C5-403C-B722-93349187BABE}"/>
    <dgm:cxn modelId="{D94A4A1E-748F-4002-A580-1B7B7B20C367}" type="presOf" srcId="{D3E4F7B5-8FD0-4BE6-9604-BCD8E8540E8E}" destId="{9FD6087D-5BD0-4713-A5ED-5EF405C3229C}" srcOrd="0" destOrd="0" presId="urn:microsoft.com/office/officeart/2008/layout/LinedList"/>
    <dgm:cxn modelId="{E103A726-25AB-44C8-A14A-729051F1EC3E}" srcId="{BAF0B179-46D1-4DF1-ABDB-1C002B4C7461}" destId="{8ADD9AB5-FB0A-4CD2-B9EB-B1FB8F2FC581}" srcOrd="3" destOrd="0" parTransId="{6E2C372A-7B33-4DD5-8118-46335D076A8C}" sibTransId="{2BD790CF-7F15-4E34-90C5-5E1EBD5F930E}"/>
    <dgm:cxn modelId="{9978BC34-DC78-452E-90AB-5EF7EFB0D235}" srcId="{BAF0B179-46D1-4DF1-ABDB-1C002B4C7461}" destId="{9DA131C6-B0BF-4B29-8FE1-16C7C5FF9CC2}" srcOrd="1" destOrd="0" parTransId="{00CC05AE-9193-4B5D-8371-431CCBB86DCD}" sibTransId="{DD36C803-1E62-44BC-8655-C9F53341DD65}"/>
    <dgm:cxn modelId="{B097EF3B-F611-4C6D-B845-72DDEDE020DA}" type="presOf" srcId="{E93D1F2C-4AD9-41E8-B279-3777D87BFE11}" destId="{FBACF339-2B83-4364-A63F-0FFFB4BA8B6C}" srcOrd="0" destOrd="0" presId="urn:microsoft.com/office/officeart/2008/layout/LinedList"/>
    <dgm:cxn modelId="{36B9366B-6966-4F6F-B6AB-3538B762B1AB}" type="presOf" srcId="{8ADD9AB5-FB0A-4CD2-B9EB-B1FB8F2FC581}" destId="{03317631-4211-4467-A343-B4E284A18A24}" srcOrd="0" destOrd="0" presId="urn:microsoft.com/office/officeart/2008/layout/LinedList"/>
    <dgm:cxn modelId="{19FBC8A1-8EE8-4699-8B5D-68C679FD8340}" type="presOf" srcId="{BAF0B179-46D1-4DF1-ABDB-1C002B4C7461}" destId="{166EA875-F3EC-4AFB-B982-8949A67180AA}" srcOrd="0" destOrd="0" presId="urn:microsoft.com/office/officeart/2008/layout/LinedList"/>
    <dgm:cxn modelId="{AA6036AC-4B04-4981-9B0A-91FA9660BD05}" type="presOf" srcId="{9DA131C6-B0BF-4B29-8FE1-16C7C5FF9CC2}" destId="{36C0B8ED-AC57-41FC-8995-D14FCAF31720}" srcOrd="0" destOrd="0" presId="urn:microsoft.com/office/officeart/2008/layout/LinedList"/>
    <dgm:cxn modelId="{B879E4B4-64A3-4BE4-BE55-DC7AE008A467}" type="presOf" srcId="{76F75B26-0563-49DF-8ED7-179A2EB7DC57}" destId="{8C042729-2E88-484C-8E66-F47140223E2D}" srcOrd="0" destOrd="0" presId="urn:microsoft.com/office/officeart/2008/layout/LinedList"/>
    <dgm:cxn modelId="{05A67ABC-5FE7-4295-9F90-BF820B5431F8}" srcId="{BAF0B179-46D1-4DF1-ABDB-1C002B4C7461}" destId="{D3E4F7B5-8FD0-4BE6-9604-BCD8E8540E8E}" srcOrd="2" destOrd="0" parTransId="{1065355C-A298-42C0-961B-E3420DB6C14A}" sibTransId="{085DC9C0-6157-41D7-95B0-E9BEA51F118C}"/>
    <dgm:cxn modelId="{9439B6C7-78B8-4353-BAB7-5CA0EC3BC451}" srcId="{BAF0B179-46D1-4DF1-ABDB-1C002B4C7461}" destId="{76F75B26-0563-49DF-8ED7-179A2EB7DC57}" srcOrd="4" destOrd="0" parTransId="{A5ECD7A0-4947-4777-9E01-69AEDE566145}" sibTransId="{31BE3856-2B5F-4C1B-B087-DA4E5818E175}"/>
    <dgm:cxn modelId="{5DA05384-4F33-4B27-B619-60BD3D49F06D}" type="presParOf" srcId="{166EA875-F3EC-4AFB-B982-8949A67180AA}" destId="{4D38C533-E916-4D4D-9FCD-16F5DA255C48}" srcOrd="0" destOrd="0" presId="urn:microsoft.com/office/officeart/2008/layout/LinedList"/>
    <dgm:cxn modelId="{D929E488-C67B-4786-9854-ED6FDD827A9A}" type="presParOf" srcId="{166EA875-F3EC-4AFB-B982-8949A67180AA}" destId="{9294891A-B0E0-4DBB-9342-4AB9D7C50BBC}" srcOrd="1" destOrd="0" presId="urn:microsoft.com/office/officeart/2008/layout/LinedList"/>
    <dgm:cxn modelId="{68FF08DA-F09E-4B85-9D26-3CCD0D186303}" type="presParOf" srcId="{9294891A-B0E0-4DBB-9342-4AB9D7C50BBC}" destId="{FBACF339-2B83-4364-A63F-0FFFB4BA8B6C}" srcOrd="0" destOrd="0" presId="urn:microsoft.com/office/officeart/2008/layout/LinedList"/>
    <dgm:cxn modelId="{449DF885-217B-4E5B-822A-2F06877412C2}" type="presParOf" srcId="{9294891A-B0E0-4DBB-9342-4AB9D7C50BBC}" destId="{66C37B3B-97AC-4CAA-ADB1-987C80BA1DF0}" srcOrd="1" destOrd="0" presId="urn:microsoft.com/office/officeart/2008/layout/LinedList"/>
    <dgm:cxn modelId="{2FEF7A44-B007-4563-9511-97B5A455A670}" type="presParOf" srcId="{166EA875-F3EC-4AFB-B982-8949A67180AA}" destId="{918428C9-D4F4-4DCD-96F0-D1ABA60C479D}" srcOrd="2" destOrd="0" presId="urn:microsoft.com/office/officeart/2008/layout/LinedList"/>
    <dgm:cxn modelId="{95D52420-8780-4F12-A8ED-5F12B46DB5D6}" type="presParOf" srcId="{166EA875-F3EC-4AFB-B982-8949A67180AA}" destId="{9F6CF6AA-CE60-441C-8D0F-53AC2D8B02A2}" srcOrd="3" destOrd="0" presId="urn:microsoft.com/office/officeart/2008/layout/LinedList"/>
    <dgm:cxn modelId="{3648DC52-A735-4967-A357-AE045ADD4CF0}" type="presParOf" srcId="{9F6CF6AA-CE60-441C-8D0F-53AC2D8B02A2}" destId="{36C0B8ED-AC57-41FC-8995-D14FCAF31720}" srcOrd="0" destOrd="0" presId="urn:microsoft.com/office/officeart/2008/layout/LinedList"/>
    <dgm:cxn modelId="{359613D3-776D-4AA8-971D-D2126B8854DE}" type="presParOf" srcId="{9F6CF6AA-CE60-441C-8D0F-53AC2D8B02A2}" destId="{397F2892-0DEB-40FF-A5B9-6BD717F976ED}" srcOrd="1" destOrd="0" presId="urn:microsoft.com/office/officeart/2008/layout/LinedList"/>
    <dgm:cxn modelId="{47D94EB2-137F-41FC-A720-9DF3884A5D5F}" type="presParOf" srcId="{166EA875-F3EC-4AFB-B982-8949A67180AA}" destId="{5B6152EB-FB57-4AF7-8412-8CF137B9F6EE}" srcOrd="4" destOrd="0" presId="urn:microsoft.com/office/officeart/2008/layout/LinedList"/>
    <dgm:cxn modelId="{D8A8EA29-360A-434E-B621-87F0EEE06F3E}" type="presParOf" srcId="{166EA875-F3EC-4AFB-B982-8949A67180AA}" destId="{CDD7A153-74E9-4C42-9941-DA66F7E74957}" srcOrd="5" destOrd="0" presId="urn:microsoft.com/office/officeart/2008/layout/LinedList"/>
    <dgm:cxn modelId="{D5F0FECB-6140-490D-BF93-EA8A27147E7D}" type="presParOf" srcId="{CDD7A153-74E9-4C42-9941-DA66F7E74957}" destId="{9FD6087D-5BD0-4713-A5ED-5EF405C3229C}" srcOrd="0" destOrd="0" presId="urn:microsoft.com/office/officeart/2008/layout/LinedList"/>
    <dgm:cxn modelId="{82F951D7-83D6-4B7E-877A-AD4B47512D3F}" type="presParOf" srcId="{CDD7A153-74E9-4C42-9941-DA66F7E74957}" destId="{BA09B763-E800-428F-8654-3C5AFCF5EDDC}" srcOrd="1" destOrd="0" presId="urn:microsoft.com/office/officeart/2008/layout/LinedList"/>
    <dgm:cxn modelId="{F7E24197-DFA1-4476-8FC3-B3EDCC3EAD69}" type="presParOf" srcId="{166EA875-F3EC-4AFB-B982-8949A67180AA}" destId="{6F7A9432-F68E-4C4C-978A-ACABFC5DCD43}" srcOrd="6" destOrd="0" presId="urn:microsoft.com/office/officeart/2008/layout/LinedList"/>
    <dgm:cxn modelId="{66E39022-080F-4664-A72B-3946AEEDF1CD}" type="presParOf" srcId="{166EA875-F3EC-4AFB-B982-8949A67180AA}" destId="{1F77D3F6-0495-48D5-96E5-3103E02CB459}" srcOrd="7" destOrd="0" presId="urn:microsoft.com/office/officeart/2008/layout/LinedList"/>
    <dgm:cxn modelId="{7E651B0E-8A35-45C6-8CC1-B2C0724EE3C6}" type="presParOf" srcId="{1F77D3F6-0495-48D5-96E5-3103E02CB459}" destId="{03317631-4211-4467-A343-B4E284A18A24}" srcOrd="0" destOrd="0" presId="urn:microsoft.com/office/officeart/2008/layout/LinedList"/>
    <dgm:cxn modelId="{8A74EFD4-F902-41D6-B410-553304427D22}" type="presParOf" srcId="{1F77D3F6-0495-48D5-96E5-3103E02CB459}" destId="{2ECF95E3-204E-4EED-9117-1C98065027F8}" srcOrd="1" destOrd="0" presId="urn:microsoft.com/office/officeart/2008/layout/LinedList"/>
    <dgm:cxn modelId="{0C0F46F0-F91E-4BD7-A89E-8A8C369FCB18}" type="presParOf" srcId="{166EA875-F3EC-4AFB-B982-8949A67180AA}" destId="{B7974305-1371-4544-BA5A-F5CCFE1928D9}" srcOrd="8" destOrd="0" presId="urn:microsoft.com/office/officeart/2008/layout/LinedList"/>
    <dgm:cxn modelId="{D3343FC4-5E83-4201-B665-90017B897FB5}" type="presParOf" srcId="{166EA875-F3EC-4AFB-B982-8949A67180AA}" destId="{A9F47511-0F54-40BD-8E22-A7D62F20DC9E}" srcOrd="9" destOrd="0" presId="urn:microsoft.com/office/officeart/2008/layout/LinedList"/>
    <dgm:cxn modelId="{EA43DF2D-C63A-4617-AAA6-E56995709C5D}" type="presParOf" srcId="{A9F47511-0F54-40BD-8E22-A7D62F20DC9E}" destId="{8C042729-2E88-484C-8E66-F47140223E2D}" srcOrd="0" destOrd="0" presId="urn:microsoft.com/office/officeart/2008/layout/LinedList"/>
    <dgm:cxn modelId="{DB6424BA-00D1-4848-958B-646078C9A935}" type="presParOf" srcId="{A9F47511-0F54-40BD-8E22-A7D62F20DC9E}" destId="{B1091572-BC4A-4C43-AEA5-8C386AA922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740745-4E23-472A-B19F-1BFF16E844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116DBA-2C14-4028-97EB-0014C244A9A8}">
      <dgm:prSet/>
      <dgm:spPr/>
      <dgm:t>
        <a:bodyPr/>
        <a:lstStyle/>
        <a:p>
          <a:r>
            <a:rPr lang="en-US"/>
            <a:t>Hospitals have a strong current ratio (2.75), indicating good short-term liquidity.</a:t>
          </a:r>
        </a:p>
      </dgm:t>
    </dgm:pt>
    <dgm:pt modelId="{8975D2D5-1C03-4D09-A313-897AB4B972FC}" type="parTrans" cxnId="{B427154B-686E-4072-8E9E-E40D2C6B8E16}">
      <dgm:prSet/>
      <dgm:spPr/>
      <dgm:t>
        <a:bodyPr/>
        <a:lstStyle/>
        <a:p>
          <a:endParaRPr lang="en-US"/>
        </a:p>
      </dgm:t>
    </dgm:pt>
    <dgm:pt modelId="{E01BEEB2-DC64-4980-8A8A-96E22B336503}" type="sibTrans" cxnId="{B427154B-686E-4072-8E9E-E40D2C6B8E16}">
      <dgm:prSet/>
      <dgm:spPr/>
      <dgm:t>
        <a:bodyPr/>
        <a:lstStyle/>
        <a:p>
          <a:endParaRPr lang="en-US"/>
        </a:p>
      </dgm:t>
    </dgm:pt>
    <dgm:pt modelId="{55026488-2F47-4670-8737-AC531A5E4933}">
      <dgm:prSet/>
      <dgm:spPr/>
      <dgm:t>
        <a:bodyPr/>
        <a:lstStyle/>
        <a:p>
          <a:r>
            <a:rPr lang="en-US"/>
            <a:t>Profit margins remain low (3.8%) mainly due to very high expense ratios (95%).</a:t>
          </a:r>
        </a:p>
      </dgm:t>
    </dgm:pt>
    <dgm:pt modelId="{361781E4-FC76-46EA-9AB3-B30EE926103A}" type="parTrans" cxnId="{5D5A3684-1274-420D-B275-877F6CA67398}">
      <dgm:prSet/>
      <dgm:spPr/>
      <dgm:t>
        <a:bodyPr/>
        <a:lstStyle/>
        <a:p>
          <a:endParaRPr lang="en-US"/>
        </a:p>
      </dgm:t>
    </dgm:pt>
    <dgm:pt modelId="{4654F854-DEB6-4961-908D-942B6B6479FE}" type="sibTrans" cxnId="{5D5A3684-1274-420D-B275-877F6CA67398}">
      <dgm:prSet/>
      <dgm:spPr/>
      <dgm:t>
        <a:bodyPr/>
        <a:lstStyle/>
        <a:p>
          <a:endParaRPr lang="en-US"/>
        </a:p>
      </dgm:t>
    </dgm:pt>
    <dgm:pt modelId="{C6ECE23B-901B-489B-9C67-8AA5315E9F83}">
      <dgm:prSet/>
      <dgm:spPr/>
      <dgm:t>
        <a:bodyPr/>
        <a:lstStyle/>
        <a:p>
          <a:r>
            <a:rPr lang="en-US"/>
            <a:t>A sharp profit spike appears around 2020, followed by a decline.</a:t>
          </a:r>
        </a:p>
      </dgm:t>
    </dgm:pt>
    <dgm:pt modelId="{BD2C146F-E24D-491C-A137-F78D34653B1F}" type="parTrans" cxnId="{024574FB-EF08-40F8-B2E1-C87B8D19B718}">
      <dgm:prSet/>
      <dgm:spPr/>
      <dgm:t>
        <a:bodyPr/>
        <a:lstStyle/>
        <a:p>
          <a:endParaRPr lang="en-US"/>
        </a:p>
      </dgm:t>
    </dgm:pt>
    <dgm:pt modelId="{0FF5ECD9-8068-4AFD-A027-7606793C9169}" type="sibTrans" cxnId="{024574FB-EF08-40F8-B2E1-C87B8D19B718}">
      <dgm:prSet/>
      <dgm:spPr/>
      <dgm:t>
        <a:bodyPr/>
        <a:lstStyle/>
        <a:p>
          <a:endParaRPr lang="en-US"/>
        </a:p>
      </dgm:t>
    </dgm:pt>
    <dgm:pt modelId="{22CEB1D9-371A-4A2B-9730-AC2A36D73223}">
      <dgm:prSet/>
      <dgm:spPr/>
      <dgm:t>
        <a:bodyPr/>
        <a:lstStyle/>
        <a:p>
          <a:r>
            <a:rPr lang="en-US"/>
            <a:t>Specialty hospitals show higher profit margins compared to other facility types.</a:t>
          </a:r>
        </a:p>
      </dgm:t>
    </dgm:pt>
    <dgm:pt modelId="{BDD9ED15-B58B-4D87-91D2-6B1AE8273846}" type="parTrans" cxnId="{5B201326-9923-4368-8065-6EEC81D4579C}">
      <dgm:prSet/>
      <dgm:spPr/>
      <dgm:t>
        <a:bodyPr/>
        <a:lstStyle/>
        <a:p>
          <a:endParaRPr lang="en-US"/>
        </a:p>
      </dgm:t>
    </dgm:pt>
    <dgm:pt modelId="{3FED4ABA-DA87-456B-84DD-9F31BDA966F7}" type="sibTrans" cxnId="{5B201326-9923-4368-8065-6EEC81D4579C}">
      <dgm:prSet/>
      <dgm:spPr/>
      <dgm:t>
        <a:bodyPr/>
        <a:lstStyle/>
        <a:p>
          <a:endParaRPr lang="en-US"/>
        </a:p>
      </dgm:t>
    </dgm:pt>
    <dgm:pt modelId="{071C2190-6A40-465A-A536-C3D97C2D80A1}">
      <dgm:prSet/>
      <dgm:spPr/>
      <dgm:t>
        <a:bodyPr/>
        <a:lstStyle/>
        <a:p>
          <a:r>
            <a:rPr lang="en-US"/>
            <a:t>General short-term hospitals generate the highest net patient revenue.</a:t>
          </a:r>
        </a:p>
      </dgm:t>
    </dgm:pt>
    <dgm:pt modelId="{08C62AE8-93A7-45A7-8F4D-F2248CE385CD}" type="parTrans" cxnId="{DAE896D2-165C-454E-9DAE-2A409200E118}">
      <dgm:prSet/>
      <dgm:spPr/>
      <dgm:t>
        <a:bodyPr/>
        <a:lstStyle/>
        <a:p>
          <a:endParaRPr lang="en-US"/>
        </a:p>
      </dgm:t>
    </dgm:pt>
    <dgm:pt modelId="{50CE106F-9B16-4E20-B726-0BE9E398BD84}" type="sibTrans" cxnId="{DAE896D2-165C-454E-9DAE-2A409200E118}">
      <dgm:prSet/>
      <dgm:spPr/>
      <dgm:t>
        <a:bodyPr/>
        <a:lstStyle/>
        <a:p>
          <a:endParaRPr lang="en-US"/>
        </a:p>
      </dgm:t>
    </dgm:pt>
    <dgm:pt modelId="{0057D597-37DD-40FF-AF04-BA8B61F9F342}" type="pres">
      <dgm:prSet presAssocID="{C5740745-4E23-472A-B19F-1BFF16E8449F}" presName="root" presStyleCnt="0">
        <dgm:presLayoutVars>
          <dgm:dir/>
          <dgm:resizeHandles val="exact"/>
        </dgm:presLayoutVars>
      </dgm:prSet>
      <dgm:spPr/>
    </dgm:pt>
    <dgm:pt modelId="{C1B7505C-CBD4-4C29-AAC3-9602C5BAD5FB}" type="pres">
      <dgm:prSet presAssocID="{E1116DBA-2C14-4028-97EB-0014C244A9A8}" presName="compNode" presStyleCnt="0"/>
      <dgm:spPr/>
    </dgm:pt>
    <dgm:pt modelId="{F12719B8-C0ED-4284-86AC-E755304E072E}" type="pres">
      <dgm:prSet presAssocID="{E1116DBA-2C14-4028-97EB-0014C244A9A8}" presName="bgRect" presStyleLbl="bgShp" presStyleIdx="0" presStyleCnt="5"/>
      <dgm:spPr/>
    </dgm:pt>
    <dgm:pt modelId="{ED364F62-5D9B-4992-852F-4D661125FAE3}" type="pres">
      <dgm:prSet presAssocID="{E1116DBA-2C14-4028-97EB-0014C244A9A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15B50A59-1CC9-4787-B2B9-490A8FFC9056}" type="pres">
      <dgm:prSet presAssocID="{E1116DBA-2C14-4028-97EB-0014C244A9A8}" presName="spaceRect" presStyleCnt="0"/>
      <dgm:spPr/>
    </dgm:pt>
    <dgm:pt modelId="{80EB642A-7850-427A-A735-09F1B6284C5F}" type="pres">
      <dgm:prSet presAssocID="{E1116DBA-2C14-4028-97EB-0014C244A9A8}" presName="parTx" presStyleLbl="revTx" presStyleIdx="0" presStyleCnt="5">
        <dgm:presLayoutVars>
          <dgm:chMax val="0"/>
          <dgm:chPref val="0"/>
        </dgm:presLayoutVars>
      </dgm:prSet>
      <dgm:spPr/>
    </dgm:pt>
    <dgm:pt modelId="{79D62702-1B85-4BC5-86FC-05DCB9B5EF3B}" type="pres">
      <dgm:prSet presAssocID="{E01BEEB2-DC64-4980-8A8A-96E22B336503}" presName="sibTrans" presStyleCnt="0"/>
      <dgm:spPr/>
    </dgm:pt>
    <dgm:pt modelId="{B60D060C-1424-4E61-994C-8EEDD026B70F}" type="pres">
      <dgm:prSet presAssocID="{55026488-2F47-4670-8737-AC531A5E4933}" presName="compNode" presStyleCnt="0"/>
      <dgm:spPr/>
    </dgm:pt>
    <dgm:pt modelId="{97EF6DEB-C734-41FD-9C97-92317A3B0E45}" type="pres">
      <dgm:prSet presAssocID="{55026488-2F47-4670-8737-AC531A5E4933}" presName="bgRect" presStyleLbl="bgShp" presStyleIdx="1" presStyleCnt="5"/>
      <dgm:spPr/>
    </dgm:pt>
    <dgm:pt modelId="{5930DBAD-5D39-4EE1-9B9B-0239B170EFB3}" type="pres">
      <dgm:prSet presAssocID="{55026488-2F47-4670-8737-AC531A5E493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A013142-8CDA-4159-BA44-C848B3034115}" type="pres">
      <dgm:prSet presAssocID="{55026488-2F47-4670-8737-AC531A5E4933}" presName="spaceRect" presStyleCnt="0"/>
      <dgm:spPr/>
    </dgm:pt>
    <dgm:pt modelId="{D95AF524-1029-4568-8AA8-A24630D8293B}" type="pres">
      <dgm:prSet presAssocID="{55026488-2F47-4670-8737-AC531A5E4933}" presName="parTx" presStyleLbl="revTx" presStyleIdx="1" presStyleCnt="5">
        <dgm:presLayoutVars>
          <dgm:chMax val="0"/>
          <dgm:chPref val="0"/>
        </dgm:presLayoutVars>
      </dgm:prSet>
      <dgm:spPr/>
    </dgm:pt>
    <dgm:pt modelId="{6BCEDFA2-2B0B-4254-9E0A-969D98A2CEF3}" type="pres">
      <dgm:prSet presAssocID="{4654F854-DEB6-4961-908D-942B6B6479FE}" presName="sibTrans" presStyleCnt="0"/>
      <dgm:spPr/>
    </dgm:pt>
    <dgm:pt modelId="{98A76D2C-A54C-43CB-A959-B427B026886B}" type="pres">
      <dgm:prSet presAssocID="{C6ECE23B-901B-489B-9C67-8AA5315E9F83}" presName="compNode" presStyleCnt="0"/>
      <dgm:spPr/>
    </dgm:pt>
    <dgm:pt modelId="{5788521B-B5AE-43B2-8120-5C6190EEAC09}" type="pres">
      <dgm:prSet presAssocID="{C6ECE23B-901B-489B-9C67-8AA5315E9F83}" presName="bgRect" presStyleLbl="bgShp" presStyleIdx="2" presStyleCnt="5"/>
      <dgm:spPr/>
    </dgm:pt>
    <dgm:pt modelId="{5021D367-4593-47A7-8D6A-67222AC68A04}" type="pres">
      <dgm:prSet presAssocID="{C6ECE23B-901B-489B-9C67-8AA5315E9F8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4E507921-0558-4651-A9AF-B2EF151BE6AC}" type="pres">
      <dgm:prSet presAssocID="{C6ECE23B-901B-489B-9C67-8AA5315E9F83}" presName="spaceRect" presStyleCnt="0"/>
      <dgm:spPr/>
    </dgm:pt>
    <dgm:pt modelId="{35894AFA-1B28-4FB3-826E-AEAFA8447DD6}" type="pres">
      <dgm:prSet presAssocID="{C6ECE23B-901B-489B-9C67-8AA5315E9F83}" presName="parTx" presStyleLbl="revTx" presStyleIdx="2" presStyleCnt="5">
        <dgm:presLayoutVars>
          <dgm:chMax val="0"/>
          <dgm:chPref val="0"/>
        </dgm:presLayoutVars>
      </dgm:prSet>
      <dgm:spPr/>
    </dgm:pt>
    <dgm:pt modelId="{B9FD1BBD-DDEB-4197-A592-AEC5CBCBC544}" type="pres">
      <dgm:prSet presAssocID="{0FF5ECD9-8068-4AFD-A027-7606793C9169}" presName="sibTrans" presStyleCnt="0"/>
      <dgm:spPr/>
    </dgm:pt>
    <dgm:pt modelId="{D28C2F8C-E801-4013-A598-132E8E68CD63}" type="pres">
      <dgm:prSet presAssocID="{22CEB1D9-371A-4A2B-9730-AC2A36D73223}" presName="compNode" presStyleCnt="0"/>
      <dgm:spPr/>
    </dgm:pt>
    <dgm:pt modelId="{24F707C2-020E-4E00-959A-B553FF470682}" type="pres">
      <dgm:prSet presAssocID="{22CEB1D9-371A-4A2B-9730-AC2A36D73223}" presName="bgRect" presStyleLbl="bgShp" presStyleIdx="3" presStyleCnt="5"/>
      <dgm:spPr/>
    </dgm:pt>
    <dgm:pt modelId="{9C9C4940-70A4-4BEE-9B9D-01959079790C}" type="pres">
      <dgm:prSet presAssocID="{22CEB1D9-371A-4A2B-9730-AC2A36D7322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9115E8F5-5089-498B-8472-0DEA1B5513A9}" type="pres">
      <dgm:prSet presAssocID="{22CEB1D9-371A-4A2B-9730-AC2A36D73223}" presName="spaceRect" presStyleCnt="0"/>
      <dgm:spPr/>
    </dgm:pt>
    <dgm:pt modelId="{D8C1A0F6-7F5B-4A03-9531-0D7A0C4DF517}" type="pres">
      <dgm:prSet presAssocID="{22CEB1D9-371A-4A2B-9730-AC2A36D73223}" presName="parTx" presStyleLbl="revTx" presStyleIdx="3" presStyleCnt="5">
        <dgm:presLayoutVars>
          <dgm:chMax val="0"/>
          <dgm:chPref val="0"/>
        </dgm:presLayoutVars>
      </dgm:prSet>
      <dgm:spPr/>
    </dgm:pt>
    <dgm:pt modelId="{33A96E80-BBD9-4C12-94FA-DBCD7E3D3E70}" type="pres">
      <dgm:prSet presAssocID="{3FED4ABA-DA87-456B-84DD-9F31BDA966F7}" presName="sibTrans" presStyleCnt="0"/>
      <dgm:spPr/>
    </dgm:pt>
    <dgm:pt modelId="{118CB93F-79C4-4CE3-9E79-DEB406FF564D}" type="pres">
      <dgm:prSet presAssocID="{071C2190-6A40-465A-A536-C3D97C2D80A1}" presName="compNode" presStyleCnt="0"/>
      <dgm:spPr/>
    </dgm:pt>
    <dgm:pt modelId="{1E4E6487-21EA-4D48-8613-32E1AE8BE9FA}" type="pres">
      <dgm:prSet presAssocID="{071C2190-6A40-465A-A536-C3D97C2D80A1}" presName="bgRect" presStyleLbl="bgShp" presStyleIdx="4" presStyleCnt="5"/>
      <dgm:spPr/>
    </dgm:pt>
    <dgm:pt modelId="{96DB0872-39A9-425B-AD3B-99A28E61A7D4}" type="pres">
      <dgm:prSet presAssocID="{071C2190-6A40-465A-A536-C3D97C2D80A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6779549-66B5-4C80-88E9-297CEBF79C3A}" type="pres">
      <dgm:prSet presAssocID="{071C2190-6A40-465A-A536-C3D97C2D80A1}" presName="spaceRect" presStyleCnt="0"/>
      <dgm:spPr/>
    </dgm:pt>
    <dgm:pt modelId="{FDE28C7E-8E4D-4482-B372-CE6F9147BC86}" type="pres">
      <dgm:prSet presAssocID="{071C2190-6A40-465A-A536-C3D97C2D80A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693B20D-FBEA-4D40-B39E-A091498FD375}" type="presOf" srcId="{C6ECE23B-901B-489B-9C67-8AA5315E9F83}" destId="{35894AFA-1B28-4FB3-826E-AEAFA8447DD6}" srcOrd="0" destOrd="0" presId="urn:microsoft.com/office/officeart/2018/2/layout/IconVerticalSolidList"/>
    <dgm:cxn modelId="{17EC4B25-E3A0-450E-BED4-E6C7590D0CA4}" type="presOf" srcId="{22CEB1D9-371A-4A2B-9730-AC2A36D73223}" destId="{D8C1A0F6-7F5B-4A03-9531-0D7A0C4DF517}" srcOrd="0" destOrd="0" presId="urn:microsoft.com/office/officeart/2018/2/layout/IconVerticalSolidList"/>
    <dgm:cxn modelId="{5B201326-9923-4368-8065-6EEC81D4579C}" srcId="{C5740745-4E23-472A-B19F-1BFF16E8449F}" destId="{22CEB1D9-371A-4A2B-9730-AC2A36D73223}" srcOrd="3" destOrd="0" parTransId="{BDD9ED15-B58B-4D87-91D2-6B1AE8273846}" sibTransId="{3FED4ABA-DA87-456B-84DD-9F31BDA966F7}"/>
    <dgm:cxn modelId="{B427154B-686E-4072-8E9E-E40D2C6B8E16}" srcId="{C5740745-4E23-472A-B19F-1BFF16E8449F}" destId="{E1116DBA-2C14-4028-97EB-0014C244A9A8}" srcOrd="0" destOrd="0" parTransId="{8975D2D5-1C03-4D09-A313-897AB4B972FC}" sibTransId="{E01BEEB2-DC64-4980-8A8A-96E22B336503}"/>
    <dgm:cxn modelId="{C06E9E74-B2CB-43C4-BFAB-659AB59B75C3}" type="presOf" srcId="{E1116DBA-2C14-4028-97EB-0014C244A9A8}" destId="{80EB642A-7850-427A-A735-09F1B6284C5F}" srcOrd="0" destOrd="0" presId="urn:microsoft.com/office/officeart/2018/2/layout/IconVerticalSolidList"/>
    <dgm:cxn modelId="{ADCF217C-C9D5-4796-BD24-A637B8BA81EA}" type="presOf" srcId="{071C2190-6A40-465A-A536-C3D97C2D80A1}" destId="{FDE28C7E-8E4D-4482-B372-CE6F9147BC86}" srcOrd="0" destOrd="0" presId="urn:microsoft.com/office/officeart/2018/2/layout/IconVerticalSolidList"/>
    <dgm:cxn modelId="{5D5A3684-1274-420D-B275-877F6CA67398}" srcId="{C5740745-4E23-472A-B19F-1BFF16E8449F}" destId="{55026488-2F47-4670-8737-AC531A5E4933}" srcOrd="1" destOrd="0" parTransId="{361781E4-FC76-46EA-9AB3-B30EE926103A}" sibTransId="{4654F854-DEB6-4961-908D-942B6B6479FE}"/>
    <dgm:cxn modelId="{80BE6E84-A058-4E9F-8BB8-24001744105D}" type="presOf" srcId="{C5740745-4E23-472A-B19F-1BFF16E8449F}" destId="{0057D597-37DD-40FF-AF04-BA8B61F9F342}" srcOrd="0" destOrd="0" presId="urn:microsoft.com/office/officeart/2018/2/layout/IconVerticalSolidList"/>
    <dgm:cxn modelId="{C87E2CD0-05C8-4168-9F05-6CA5DBAAE6CC}" type="presOf" srcId="{55026488-2F47-4670-8737-AC531A5E4933}" destId="{D95AF524-1029-4568-8AA8-A24630D8293B}" srcOrd="0" destOrd="0" presId="urn:microsoft.com/office/officeart/2018/2/layout/IconVerticalSolidList"/>
    <dgm:cxn modelId="{DAE896D2-165C-454E-9DAE-2A409200E118}" srcId="{C5740745-4E23-472A-B19F-1BFF16E8449F}" destId="{071C2190-6A40-465A-A536-C3D97C2D80A1}" srcOrd="4" destOrd="0" parTransId="{08C62AE8-93A7-45A7-8F4D-F2248CE385CD}" sibTransId="{50CE106F-9B16-4E20-B726-0BE9E398BD84}"/>
    <dgm:cxn modelId="{024574FB-EF08-40F8-B2E1-C87B8D19B718}" srcId="{C5740745-4E23-472A-B19F-1BFF16E8449F}" destId="{C6ECE23B-901B-489B-9C67-8AA5315E9F83}" srcOrd="2" destOrd="0" parTransId="{BD2C146F-E24D-491C-A137-F78D34653B1F}" sibTransId="{0FF5ECD9-8068-4AFD-A027-7606793C9169}"/>
    <dgm:cxn modelId="{3DD3D450-0585-424D-AC6A-C3DDBD207223}" type="presParOf" srcId="{0057D597-37DD-40FF-AF04-BA8B61F9F342}" destId="{C1B7505C-CBD4-4C29-AAC3-9602C5BAD5FB}" srcOrd="0" destOrd="0" presId="urn:microsoft.com/office/officeart/2018/2/layout/IconVerticalSolidList"/>
    <dgm:cxn modelId="{52ACAA9E-0E90-4B5E-82AE-D60869C25929}" type="presParOf" srcId="{C1B7505C-CBD4-4C29-AAC3-9602C5BAD5FB}" destId="{F12719B8-C0ED-4284-86AC-E755304E072E}" srcOrd="0" destOrd="0" presId="urn:microsoft.com/office/officeart/2018/2/layout/IconVerticalSolidList"/>
    <dgm:cxn modelId="{AED278A8-C963-4E18-9AAE-95ABC83344CC}" type="presParOf" srcId="{C1B7505C-CBD4-4C29-AAC3-9602C5BAD5FB}" destId="{ED364F62-5D9B-4992-852F-4D661125FAE3}" srcOrd="1" destOrd="0" presId="urn:microsoft.com/office/officeart/2018/2/layout/IconVerticalSolidList"/>
    <dgm:cxn modelId="{7D907C25-3000-46E3-B97E-DA798BB3BC98}" type="presParOf" srcId="{C1B7505C-CBD4-4C29-AAC3-9602C5BAD5FB}" destId="{15B50A59-1CC9-4787-B2B9-490A8FFC9056}" srcOrd="2" destOrd="0" presId="urn:microsoft.com/office/officeart/2018/2/layout/IconVerticalSolidList"/>
    <dgm:cxn modelId="{79942349-C6BD-4FC1-BE43-8C781E135F23}" type="presParOf" srcId="{C1B7505C-CBD4-4C29-AAC3-9602C5BAD5FB}" destId="{80EB642A-7850-427A-A735-09F1B6284C5F}" srcOrd="3" destOrd="0" presId="urn:microsoft.com/office/officeart/2018/2/layout/IconVerticalSolidList"/>
    <dgm:cxn modelId="{EA918A36-AFE9-4496-93C0-47696734E0AA}" type="presParOf" srcId="{0057D597-37DD-40FF-AF04-BA8B61F9F342}" destId="{79D62702-1B85-4BC5-86FC-05DCB9B5EF3B}" srcOrd="1" destOrd="0" presId="urn:microsoft.com/office/officeart/2018/2/layout/IconVerticalSolidList"/>
    <dgm:cxn modelId="{450DB659-3687-4120-85F7-C346CCA90187}" type="presParOf" srcId="{0057D597-37DD-40FF-AF04-BA8B61F9F342}" destId="{B60D060C-1424-4E61-994C-8EEDD026B70F}" srcOrd="2" destOrd="0" presId="urn:microsoft.com/office/officeart/2018/2/layout/IconVerticalSolidList"/>
    <dgm:cxn modelId="{F2B84A1B-B19A-4426-BFEA-C9B65F8BA693}" type="presParOf" srcId="{B60D060C-1424-4E61-994C-8EEDD026B70F}" destId="{97EF6DEB-C734-41FD-9C97-92317A3B0E45}" srcOrd="0" destOrd="0" presId="urn:microsoft.com/office/officeart/2018/2/layout/IconVerticalSolidList"/>
    <dgm:cxn modelId="{E0BD340A-E485-4132-859E-1C8A12F027CA}" type="presParOf" srcId="{B60D060C-1424-4E61-994C-8EEDD026B70F}" destId="{5930DBAD-5D39-4EE1-9B9B-0239B170EFB3}" srcOrd="1" destOrd="0" presId="urn:microsoft.com/office/officeart/2018/2/layout/IconVerticalSolidList"/>
    <dgm:cxn modelId="{7FF11ACD-9DE6-4E20-99AC-B2644249E4DB}" type="presParOf" srcId="{B60D060C-1424-4E61-994C-8EEDD026B70F}" destId="{9A013142-8CDA-4159-BA44-C848B3034115}" srcOrd="2" destOrd="0" presId="urn:microsoft.com/office/officeart/2018/2/layout/IconVerticalSolidList"/>
    <dgm:cxn modelId="{84D39E0D-7148-4C87-BF9F-D1C29015617E}" type="presParOf" srcId="{B60D060C-1424-4E61-994C-8EEDD026B70F}" destId="{D95AF524-1029-4568-8AA8-A24630D8293B}" srcOrd="3" destOrd="0" presId="urn:microsoft.com/office/officeart/2018/2/layout/IconVerticalSolidList"/>
    <dgm:cxn modelId="{4C26ACEA-A81A-4A21-99D5-3F51DCEF928C}" type="presParOf" srcId="{0057D597-37DD-40FF-AF04-BA8B61F9F342}" destId="{6BCEDFA2-2B0B-4254-9E0A-969D98A2CEF3}" srcOrd="3" destOrd="0" presId="urn:microsoft.com/office/officeart/2018/2/layout/IconVerticalSolidList"/>
    <dgm:cxn modelId="{334F7D16-D808-43A9-848A-AF7CA3008866}" type="presParOf" srcId="{0057D597-37DD-40FF-AF04-BA8B61F9F342}" destId="{98A76D2C-A54C-43CB-A959-B427B026886B}" srcOrd="4" destOrd="0" presId="urn:microsoft.com/office/officeart/2018/2/layout/IconVerticalSolidList"/>
    <dgm:cxn modelId="{44A85964-BD48-41AA-A271-FD6887D9BE93}" type="presParOf" srcId="{98A76D2C-A54C-43CB-A959-B427B026886B}" destId="{5788521B-B5AE-43B2-8120-5C6190EEAC09}" srcOrd="0" destOrd="0" presId="urn:microsoft.com/office/officeart/2018/2/layout/IconVerticalSolidList"/>
    <dgm:cxn modelId="{875F3AF0-EA23-4A5B-B8D1-213029274B28}" type="presParOf" srcId="{98A76D2C-A54C-43CB-A959-B427B026886B}" destId="{5021D367-4593-47A7-8D6A-67222AC68A04}" srcOrd="1" destOrd="0" presId="urn:microsoft.com/office/officeart/2018/2/layout/IconVerticalSolidList"/>
    <dgm:cxn modelId="{71955FA6-57CF-4891-A911-FE46D8BAD523}" type="presParOf" srcId="{98A76D2C-A54C-43CB-A959-B427B026886B}" destId="{4E507921-0558-4651-A9AF-B2EF151BE6AC}" srcOrd="2" destOrd="0" presId="urn:microsoft.com/office/officeart/2018/2/layout/IconVerticalSolidList"/>
    <dgm:cxn modelId="{F97652D3-2331-4F52-B907-EF5A64F81A67}" type="presParOf" srcId="{98A76D2C-A54C-43CB-A959-B427B026886B}" destId="{35894AFA-1B28-4FB3-826E-AEAFA8447DD6}" srcOrd="3" destOrd="0" presId="urn:microsoft.com/office/officeart/2018/2/layout/IconVerticalSolidList"/>
    <dgm:cxn modelId="{5E78753E-A443-4696-A9ED-9BDD40383A40}" type="presParOf" srcId="{0057D597-37DD-40FF-AF04-BA8B61F9F342}" destId="{B9FD1BBD-DDEB-4197-A592-AEC5CBCBC544}" srcOrd="5" destOrd="0" presId="urn:microsoft.com/office/officeart/2018/2/layout/IconVerticalSolidList"/>
    <dgm:cxn modelId="{D54763D6-7C06-422C-830E-7A853DF4AB5E}" type="presParOf" srcId="{0057D597-37DD-40FF-AF04-BA8B61F9F342}" destId="{D28C2F8C-E801-4013-A598-132E8E68CD63}" srcOrd="6" destOrd="0" presId="urn:microsoft.com/office/officeart/2018/2/layout/IconVerticalSolidList"/>
    <dgm:cxn modelId="{06726E62-BC8F-496C-B48A-A89BA0EBAF39}" type="presParOf" srcId="{D28C2F8C-E801-4013-A598-132E8E68CD63}" destId="{24F707C2-020E-4E00-959A-B553FF470682}" srcOrd="0" destOrd="0" presId="urn:microsoft.com/office/officeart/2018/2/layout/IconVerticalSolidList"/>
    <dgm:cxn modelId="{3D08FEE6-872A-4123-9C4E-9F7A152CED27}" type="presParOf" srcId="{D28C2F8C-E801-4013-A598-132E8E68CD63}" destId="{9C9C4940-70A4-4BEE-9B9D-01959079790C}" srcOrd="1" destOrd="0" presId="urn:microsoft.com/office/officeart/2018/2/layout/IconVerticalSolidList"/>
    <dgm:cxn modelId="{E25DF90E-8827-4A63-BB7A-F1CBEF0C1724}" type="presParOf" srcId="{D28C2F8C-E801-4013-A598-132E8E68CD63}" destId="{9115E8F5-5089-498B-8472-0DEA1B5513A9}" srcOrd="2" destOrd="0" presId="urn:microsoft.com/office/officeart/2018/2/layout/IconVerticalSolidList"/>
    <dgm:cxn modelId="{5CC36D62-A095-4023-8F6F-A8923A0095FD}" type="presParOf" srcId="{D28C2F8C-E801-4013-A598-132E8E68CD63}" destId="{D8C1A0F6-7F5B-4A03-9531-0D7A0C4DF517}" srcOrd="3" destOrd="0" presId="urn:microsoft.com/office/officeart/2018/2/layout/IconVerticalSolidList"/>
    <dgm:cxn modelId="{54DE7943-23E7-4C05-B33A-14E79FBB1DEE}" type="presParOf" srcId="{0057D597-37DD-40FF-AF04-BA8B61F9F342}" destId="{33A96E80-BBD9-4C12-94FA-DBCD7E3D3E70}" srcOrd="7" destOrd="0" presId="urn:microsoft.com/office/officeart/2018/2/layout/IconVerticalSolidList"/>
    <dgm:cxn modelId="{1E5FA89F-349E-4DD2-BED1-AA1E90F1E7E2}" type="presParOf" srcId="{0057D597-37DD-40FF-AF04-BA8B61F9F342}" destId="{118CB93F-79C4-4CE3-9E79-DEB406FF564D}" srcOrd="8" destOrd="0" presId="urn:microsoft.com/office/officeart/2018/2/layout/IconVerticalSolidList"/>
    <dgm:cxn modelId="{D0836130-BD13-4D96-AD25-D1C6CE725671}" type="presParOf" srcId="{118CB93F-79C4-4CE3-9E79-DEB406FF564D}" destId="{1E4E6487-21EA-4D48-8613-32E1AE8BE9FA}" srcOrd="0" destOrd="0" presId="urn:microsoft.com/office/officeart/2018/2/layout/IconVerticalSolidList"/>
    <dgm:cxn modelId="{DECDF6E3-EB8F-46BD-A18D-6043A7FDE235}" type="presParOf" srcId="{118CB93F-79C4-4CE3-9E79-DEB406FF564D}" destId="{96DB0872-39A9-425B-AD3B-99A28E61A7D4}" srcOrd="1" destOrd="0" presId="urn:microsoft.com/office/officeart/2018/2/layout/IconVerticalSolidList"/>
    <dgm:cxn modelId="{129E265D-3AD7-4A33-8B85-CDD8C50EDC34}" type="presParOf" srcId="{118CB93F-79C4-4CE3-9E79-DEB406FF564D}" destId="{A6779549-66B5-4C80-88E9-297CEBF79C3A}" srcOrd="2" destOrd="0" presId="urn:microsoft.com/office/officeart/2018/2/layout/IconVerticalSolidList"/>
    <dgm:cxn modelId="{04EDEF3D-1236-45C9-8243-2A2FFF2DE460}" type="presParOf" srcId="{118CB93F-79C4-4CE3-9E79-DEB406FF564D}" destId="{FDE28C7E-8E4D-4482-B372-CE6F9147BC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0CCBF8A-DB45-4350-962B-ABFB87DDEA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18A65A5-8D86-414B-BB9B-6BCE78D1AE43}">
      <dgm:prSet/>
      <dgm:spPr/>
      <dgm:t>
        <a:bodyPr/>
        <a:lstStyle/>
        <a:p>
          <a:r>
            <a:rPr lang="en-US"/>
            <a:t>Average hospital occupancy remained around </a:t>
          </a:r>
          <a:r>
            <a:rPr lang="en-US" b="1"/>
            <a:t>51%</a:t>
          </a:r>
          <a:r>
            <a:rPr lang="en-US"/>
            <a:t>, with a noticeable dip in 2020 and recovery afterward.</a:t>
          </a:r>
        </a:p>
      </dgm:t>
    </dgm:pt>
    <dgm:pt modelId="{2B26E55E-8AC1-4BCB-B2A6-3B298AA8930F}" type="parTrans" cxnId="{B95BA7F0-99B2-4C64-AF3B-3E4F4C9925C6}">
      <dgm:prSet/>
      <dgm:spPr/>
      <dgm:t>
        <a:bodyPr/>
        <a:lstStyle/>
        <a:p>
          <a:endParaRPr lang="en-US"/>
        </a:p>
      </dgm:t>
    </dgm:pt>
    <dgm:pt modelId="{AC5B000C-F156-464A-BECE-8D5EDE0E51FE}" type="sibTrans" cxnId="{B95BA7F0-99B2-4C64-AF3B-3E4F4C9925C6}">
      <dgm:prSet/>
      <dgm:spPr/>
      <dgm:t>
        <a:bodyPr/>
        <a:lstStyle/>
        <a:p>
          <a:endParaRPr lang="en-US"/>
        </a:p>
      </dgm:t>
    </dgm:pt>
    <dgm:pt modelId="{CDB412D1-D08E-4A79-A25B-613D078897E0}">
      <dgm:prSet/>
      <dgm:spPr/>
      <dgm:t>
        <a:bodyPr/>
        <a:lstStyle/>
        <a:p>
          <a:r>
            <a:rPr lang="en-US"/>
            <a:t>Staffing levels vary widely, showing differences in how hospitals allocate labor resources.</a:t>
          </a:r>
        </a:p>
      </dgm:t>
    </dgm:pt>
    <dgm:pt modelId="{DC3FD629-2975-4FC8-A8E2-7ECF118D87EC}" type="parTrans" cxnId="{BEE352AC-A16B-4EE6-AA37-BB1FDF0E1B0A}">
      <dgm:prSet/>
      <dgm:spPr/>
      <dgm:t>
        <a:bodyPr/>
        <a:lstStyle/>
        <a:p>
          <a:endParaRPr lang="en-US"/>
        </a:p>
      </dgm:t>
    </dgm:pt>
    <dgm:pt modelId="{57FFF421-CDD0-4EA5-A7B6-E7B553878DE6}" type="sibTrans" cxnId="{BEE352AC-A16B-4EE6-AA37-BB1FDF0E1B0A}">
      <dgm:prSet/>
      <dgm:spPr/>
      <dgm:t>
        <a:bodyPr/>
        <a:lstStyle/>
        <a:p>
          <a:endParaRPr lang="en-US"/>
        </a:p>
      </dgm:t>
    </dgm:pt>
    <dgm:pt modelId="{3FFE3C6B-48E3-4BBD-AAEB-37ADF30F2671}">
      <dgm:prSet/>
      <dgm:spPr/>
      <dgm:t>
        <a:bodyPr/>
        <a:lstStyle/>
        <a:p>
          <a:r>
            <a:rPr lang="en-US"/>
            <a:t>Hospitals with higher staff-to-bed ratios do not always achieve higher occupancy.</a:t>
          </a:r>
        </a:p>
      </dgm:t>
    </dgm:pt>
    <dgm:pt modelId="{5BB605A1-D4FD-4560-8889-9780A705922C}" type="parTrans" cxnId="{44A7C8E9-58D1-417E-AE03-5538D868671B}">
      <dgm:prSet/>
      <dgm:spPr/>
      <dgm:t>
        <a:bodyPr/>
        <a:lstStyle/>
        <a:p>
          <a:endParaRPr lang="en-US"/>
        </a:p>
      </dgm:t>
    </dgm:pt>
    <dgm:pt modelId="{22FACD7B-60DE-415A-8500-8BF27261A60C}" type="sibTrans" cxnId="{44A7C8E9-58D1-417E-AE03-5538D868671B}">
      <dgm:prSet/>
      <dgm:spPr/>
      <dgm:t>
        <a:bodyPr/>
        <a:lstStyle/>
        <a:p>
          <a:endParaRPr lang="en-US"/>
        </a:p>
      </dgm:t>
    </dgm:pt>
    <dgm:pt modelId="{3F922B10-2189-4F8D-9EF5-FEB3FB34974E}">
      <dgm:prSet/>
      <dgm:spPr/>
      <dgm:t>
        <a:bodyPr/>
        <a:lstStyle/>
        <a:p>
          <a:r>
            <a:rPr lang="en-US"/>
            <a:t>Revenue per bed has steadily increased over time, indicating improved revenue generation.</a:t>
          </a:r>
        </a:p>
      </dgm:t>
    </dgm:pt>
    <dgm:pt modelId="{9A3082EE-ECD2-45AF-99E7-91A0F66FDD47}" type="parTrans" cxnId="{86154BCD-D22D-43B4-A9D9-D7908003B27B}">
      <dgm:prSet/>
      <dgm:spPr/>
      <dgm:t>
        <a:bodyPr/>
        <a:lstStyle/>
        <a:p>
          <a:endParaRPr lang="en-US"/>
        </a:p>
      </dgm:t>
    </dgm:pt>
    <dgm:pt modelId="{D58AF786-89E2-4634-8D5E-D0E0B3010FC9}" type="sibTrans" cxnId="{86154BCD-D22D-43B4-A9D9-D7908003B27B}">
      <dgm:prSet/>
      <dgm:spPr/>
      <dgm:t>
        <a:bodyPr/>
        <a:lstStyle/>
        <a:p>
          <a:endParaRPr lang="en-US"/>
        </a:p>
      </dgm:t>
    </dgm:pt>
    <dgm:pt modelId="{D424A98F-1C76-4137-910B-C03894C40396}">
      <dgm:prSet/>
      <dgm:spPr/>
      <dgm:t>
        <a:bodyPr/>
        <a:lstStyle/>
        <a:p>
          <a:r>
            <a:rPr lang="en-US"/>
            <a:t>Length of stay remains consistent, suggesting stable patient care patterns.</a:t>
          </a:r>
        </a:p>
      </dgm:t>
    </dgm:pt>
    <dgm:pt modelId="{2032AED6-A57B-49EA-979C-FDD4A46FE27F}" type="parTrans" cxnId="{2532E625-8F19-4E8C-B703-7A844DB768F7}">
      <dgm:prSet/>
      <dgm:spPr/>
      <dgm:t>
        <a:bodyPr/>
        <a:lstStyle/>
        <a:p>
          <a:endParaRPr lang="en-US"/>
        </a:p>
      </dgm:t>
    </dgm:pt>
    <dgm:pt modelId="{5211EFE8-653D-4029-A18A-B838BF445FC3}" type="sibTrans" cxnId="{2532E625-8F19-4E8C-B703-7A844DB768F7}">
      <dgm:prSet/>
      <dgm:spPr/>
      <dgm:t>
        <a:bodyPr/>
        <a:lstStyle/>
        <a:p>
          <a:endParaRPr lang="en-US"/>
        </a:p>
      </dgm:t>
    </dgm:pt>
    <dgm:pt modelId="{3228B071-1BE0-4627-B143-2FE26D7D7FC3}" type="pres">
      <dgm:prSet presAssocID="{70CCBF8A-DB45-4350-962B-ABFB87DDEA76}" presName="root" presStyleCnt="0">
        <dgm:presLayoutVars>
          <dgm:dir/>
          <dgm:resizeHandles val="exact"/>
        </dgm:presLayoutVars>
      </dgm:prSet>
      <dgm:spPr/>
    </dgm:pt>
    <dgm:pt modelId="{B0EAFBFC-2796-4FB7-989C-03A728C2FDEA}" type="pres">
      <dgm:prSet presAssocID="{F18A65A5-8D86-414B-BB9B-6BCE78D1AE43}" presName="compNode" presStyleCnt="0"/>
      <dgm:spPr/>
    </dgm:pt>
    <dgm:pt modelId="{B8544878-365D-48D6-99E6-0B87015D1364}" type="pres">
      <dgm:prSet presAssocID="{F18A65A5-8D86-414B-BB9B-6BCE78D1AE43}" presName="bgRect" presStyleLbl="bgShp" presStyleIdx="0" presStyleCnt="5"/>
      <dgm:spPr/>
    </dgm:pt>
    <dgm:pt modelId="{88A268F5-1E73-4D0A-A553-9569835BEA2D}" type="pres">
      <dgm:prSet presAssocID="{F18A65A5-8D86-414B-BB9B-6BCE78D1AE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01631209-7FC9-42FF-A0EB-E4707FD94D72}" type="pres">
      <dgm:prSet presAssocID="{F18A65A5-8D86-414B-BB9B-6BCE78D1AE43}" presName="spaceRect" presStyleCnt="0"/>
      <dgm:spPr/>
    </dgm:pt>
    <dgm:pt modelId="{E89F39F7-D4A4-41C6-93CF-647D5ED7B78C}" type="pres">
      <dgm:prSet presAssocID="{F18A65A5-8D86-414B-BB9B-6BCE78D1AE43}" presName="parTx" presStyleLbl="revTx" presStyleIdx="0" presStyleCnt="5">
        <dgm:presLayoutVars>
          <dgm:chMax val="0"/>
          <dgm:chPref val="0"/>
        </dgm:presLayoutVars>
      </dgm:prSet>
      <dgm:spPr/>
    </dgm:pt>
    <dgm:pt modelId="{7F9C592D-FF1F-48C3-A35F-FB544938BFD2}" type="pres">
      <dgm:prSet presAssocID="{AC5B000C-F156-464A-BECE-8D5EDE0E51FE}" presName="sibTrans" presStyleCnt="0"/>
      <dgm:spPr/>
    </dgm:pt>
    <dgm:pt modelId="{F4618E82-B68F-4DF7-8E4D-56210B1A2D12}" type="pres">
      <dgm:prSet presAssocID="{CDB412D1-D08E-4A79-A25B-613D078897E0}" presName="compNode" presStyleCnt="0"/>
      <dgm:spPr/>
    </dgm:pt>
    <dgm:pt modelId="{17602C95-E161-40C0-B8AD-4C67407454AE}" type="pres">
      <dgm:prSet presAssocID="{CDB412D1-D08E-4A79-A25B-613D078897E0}" presName="bgRect" presStyleLbl="bgShp" presStyleIdx="1" presStyleCnt="5"/>
      <dgm:spPr/>
    </dgm:pt>
    <dgm:pt modelId="{E339350D-DDB5-4AB4-9578-01D78B2326C9}" type="pres">
      <dgm:prSet presAssocID="{CDB412D1-D08E-4A79-A25B-613D078897E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EF2F81FA-EB45-4F1B-960D-EA068B3A008D}" type="pres">
      <dgm:prSet presAssocID="{CDB412D1-D08E-4A79-A25B-613D078897E0}" presName="spaceRect" presStyleCnt="0"/>
      <dgm:spPr/>
    </dgm:pt>
    <dgm:pt modelId="{BF3969EA-8944-4481-B35E-B8CA9C7D8E8D}" type="pres">
      <dgm:prSet presAssocID="{CDB412D1-D08E-4A79-A25B-613D078897E0}" presName="parTx" presStyleLbl="revTx" presStyleIdx="1" presStyleCnt="5">
        <dgm:presLayoutVars>
          <dgm:chMax val="0"/>
          <dgm:chPref val="0"/>
        </dgm:presLayoutVars>
      </dgm:prSet>
      <dgm:spPr/>
    </dgm:pt>
    <dgm:pt modelId="{3D31C0D4-B491-4242-8F75-132332820127}" type="pres">
      <dgm:prSet presAssocID="{57FFF421-CDD0-4EA5-A7B6-E7B553878DE6}" presName="sibTrans" presStyleCnt="0"/>
      <dgm:spPr/>
    </dgm:pt>
    <dgm:pt modelId="{CDE03B26-0CE1-497C-A8C3-4840ABFCDEAB}" type="pres">
      <dgm:prSet presAssocID="{3FFE3C6B-48E3-4BBD-AAEB-37ADF30F2671}" presName="compNode" presStyleCnt="0"/>
      <dgm:spPr/>
    </dgm:pt>
    <dgm:pt modelId="{5F74AAAF-CE00-4112-8717-9417E8946E41}" type="pres">
      <dgm:prSet presAssocID="{3FFE3C6B-48E3-4BBD-AAEB-37ADF30F2671}" presName="bgRect" presStyleLbl="bgShp" presStyleIdx="2" presStyleCnt="5"/>
      <dgm:spPr/>
    </dgm:pt>
    <dgm:pt modelId="{8FEC5493-DF84-4641-8AC0-13F783457585}" type="pres">
      <dgm:prSet presAssocID="{3FFE3C6B-48E3-4BBD-AAEB-37ADF30F267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C615C746-1924-4BDD-842D-C5737F29F721}" type="pres">
      <dgm:prSet presAssocID="{3FFE3C6B-48E3-4BBD-AAEB-37ADF30F2671}" presName="spaceRect" presStyleCnt="0"/>
      <dgm:spPr/>
    </dgm:pt>
    <dgm:pt modelId="{DC51E5C6-2712-4860-A97C-4CEB085182D1}" type="pres">
      <dgm:prSet presAssocID="{3FFE3C6B-48E3-4BBD-AAEB-37ADF30F2671}" presName="parTx" presStyleLbl="revTx" presStyleIdx="2" presStyleCnt="5">
        <dgm:presLayoutVars>
          <dgm:chMax val="0"/>
          <dgm:chPref val="0"/>
        </dgm:presLayoutVars>
      </dgm:prSet>
      <dgm:spPr/>
    </dgm:pt>
    <dgm:pt modelId="{AB3E13E8-C0AF-4F67-86A7-1C3333A3202A}" type="pres">
      <dgm:prSet presAssocID="{22FACD7B-60DE-415A-8500-8BF27261A60C}" presName="sibTrans" presStyleCnt="0"/>
      <dgm:spPr/>
    </dgm:pt>
    <dgm:pt modelId="{5C44A3D7-E522-4CF1-8159-42F6C179764C}" type="pres">
      <dgm:prSet presAssocID="{3F922B10-2189-4F8D-9EF5-FEB3FB34974E}" presName="compNode" presStyleCnt="0"/>
      <dgm:spPr/>
    </dgm:pt>
    <dgm:pt modelId="{D2122E1E-1C9D-473B-8414-AFDE92AA199D}" type="pres">
      <dgm:prSet presAssocID="{3F922B10-2189-4F8D-9EF5-FEB3FB34974E}" presName="bgRect" presStyleLbl="bgShp" presStyleIdx="3" presStyleCnt="5"/>
      <dgm:spPr/>
    </dgm:pt>
    <dgm:pt modelId="{C48297C3-0809-459A-AAAD-803C877CEDA5}" type="pres">
      <dgm:prSet presAssocID="{3F922B10-2189-4F8D-9EF5-FEB3FB34974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7C877564-E05E-4447-B6AE-35E7B0CED70E}" type="pres">
      <dgm:prSet presAssocID="{3F922B10-2189-4F8D-9EF5-FEB3FB34974E}" presName="spaceRect" presStyleCnt="0"/>
      <dgm:spPr/>
    </dgm:pt>
    <dgm:pt modelId="{03171D14-EA69-45A4-94AB-E6650EA5E4C1}" type="pres">
      <dgm:prSet presAssocID="{3F922B10-2189-4F8D-9EF5-FEB3FB34974E}" presName="parTx" presStyleLbl="revTx" presStyleIdx="3" presStyleCnt="5">
        <dgm:presLayoutVars>
          <dgm:chMax val="0"/>
          <dgm:chPref val="0"/>
        </dgm:presLayoutVars>
      </dgm:prSet>
      <dgm:spPr/>
    </dgm:pt>
    <dgm:pt modelId="{216BB521-900C-49DF-94F4-301AC40706C4}" type="pres">
      <dgm:prSet presAssocID="{D58AF786-89E2-4634-8D5E-D0E0B3010FC9}" presName="sibTrans" presStyleCnt="0"/>
      <dgm:spPr/>
    </dgm:pt>
    <dgm:pt modelId="{FE0B1458-1625-4121-A6F5-FFC66D08179C}" type="pres">
      <dgm:prSet presAssocID="{D424A98F-1C76-4137-910B-C03894C40396}" presName="compNode" presStyleCnt="0"/>
      <dgm:spPr/>
    </dgm:pt>
    <dgm:pt modelId="{8969CA47-99F3-4BA3-A938-9ACA68C02FED}" type="pres">
      <dgm:prSet presAssocID="{D424A98F-1C76-4137-910B-C03894C40396}" presName="bgRect" presStyleLbl="bgShp" presStyleIdx="4" presStyleCnt="5"/>
      <dgm:spPr/>
    </dgm:pt>
    <dgm:pt modelId="{A607A9CC-C4FF-486C-85D0-367D53E9AE4E}" type="pres">
      <dgm:prSet presAssocID="{D424A98F-1C76-4137-910B-C03894C4039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"/>
        </a:ext>
      </dgm:extLst>
    </dgm:pt>
    <dgm:pt modelId="{8D799799-A723-4A86-B982-E60743018ACB}" type="pres">
      <dgm:prSet presAssocID="{D424A98F-1C76-4137-910B-C03894C40396}" presName="spaceRect" presStyleCnt="0"/>
      <dgm:spPr/>
    </dgm:pt>
    <dgm:pt modelId="{F72D530F-2A51-4CD4-93FC-7A193D59B573}" type="pres">
      <dgm:prSet presAssocID="{D424A98F-1C76-4137-910B-C03894C4039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1CD851B-7988-4DE7-984B-67DC1B03F49F}" type="presOf" srcId="{3F922B10-2189-4F8D-9EF5-FEB3FB34974E}" destId="{03171D14-EA69-45A4-94AB-E6650EA5E4C1}" srcOrd="0" destOrd="0" presId="urn:microsoft.com/office/officeart/2018/2/layout/IconVerticalSolidList"/>
    <dgm:cxn modelId="{2532E625-8F19-4E8C-B703-7A844DB768F7}" srcId="{70CCBF8A-DB45-4350-962B-ABFB87DDEA76}" destId="{D424A98F-1C76-4137-910B-C03894C40396}" srcOrd="4" destOrd="0" parTransId="{2032AED6-A57B-49EA-979C-FDD4A46FE27F}" sibTransId="{5211EFE8-653D-4029-A18A-B838BF445FC3}"/>
    <dgm:cxn modelId="{BC7D193E-AA55-4A35-83E0-08D29C027536}" type="presOf" srcId="{F18A65A5-8D86-414B-BB9B-6BCE78D1AE43}" destId="{E89F39F7-D4A4-41C6-93CF-647D5ED7B78C}" srcOrd="0" destOrd="0" presId="urn:microsoft.com/office/officeart/2018/2/layout/IconVerticalSolidList"/>
    <dgm:cxn modelId="{11D8C564-35E3-45C4-A093-CF491BCB9FCB}" type="presOf" srcId="{D424A98F-1C76-4137-910B-C03894C40396}" destId="{F72D530F-2A51-4CD4-93FC-7A193D59B573}" srcOrd="0" destOrd="0" presId="urn:microsoft.com/office/officeart/2018/2/layout/IconVerticalSolidList"/>
    <dgm:cxn modelId="{1168D284-EA30-4DB4-85ED-9267122DAA28}" type="presOf" srcId="{3FFE3C6B-48E3-4BBD-AAEB-37ADF30F2671}" destId="{DC51E5C6-2712-4860-A97C-4CEB085182D1}" srcOrd="0" destOrd="0" presId="urn:microsoft.com/office/officeart/2018/2/layout/IconVerticalSolidList"/>
    <dgm:cxn modelId="{BEE352AC-A16B-4EE6-AA37-BB1FDF0E1B0A}" srcId="{70CCBF8A-DB45-4350-962B-ABFB87DDEA76}" destId="{CDB412D1-D08E-4A79-A25B-613D078897E0}" srcOrd="1" destOrd="0" parTransId="{DC3FD629-2975-4FC8-A8E2-7ECF118D87EC}" sibTransId="{57FFF421-CDD0-4EA5-A7B6-E7B553878DE6}"/>
    <dgm:cxn modelId="{A45F53BC-1BA4-42FC-8985-609581E076A1}" type="presOf" srcId="{70CCBF8A-DB45-4350-962B-ABFB87DDEA76}" destId="{3228B071-1BE0-4627-B143-2FE26D7D7FC3}" srcOrd="0" destOrd="0" presId="urn:microsoft.com/office/officeart/2018/2/layout/IconVerticalSolidList"/>
    <dgm:cxn modelId="{86154BCD-D22D-43B4-A9D9-D7908003B27B}" srcId="{70CCBF8A-DB45-4350-962B-ABFB87DDEA76}" destId="{3F922B10-2189-4F8D-9EF5-FEB3FB34974E}" srcOrd="3" destOrd="0" parTransId="{9A3082EE-ECD2-45AF-99E7-91A0F66FDD47}" sibTransId="{D58AF786-89E2-4634-8D5E-D0E0B3010FC9}"/>
    <dgm:cxn modelId="{969277CD-60E6-4BA7-BFF3-1F2F8A4AD793}" type="presOf" srcId="{CDB412D1-D08E-4A79-A25B-613D078897E0}" destId="{BF3969EA-8944-4481-B35E-B8CA9C7D8E8D}" srcOrd="0" destOrd="0" presId="urn:microsoft.com/office/officeart/2018/2/layout/IconVerticalSolidList"/>
    <dgm:cxn modelId="{44A7C8E9-58D1-417E-AE03-5538D868671B}" srcId="{70CCBF8A-DB45-4350-962B-ABFB87DDEA76}" destId="{3FFE3C6B-48E3-4BBD-AAEB-37ADF30F2671}" srcOrd="2" destOrd="0" parTransId="{5BB605A1-D4FD-4560-8889-9780A705922C}" sibTransId="{22FACD7B-60DE-415A-8500-8BF27261A60C}"/>
    <dgm:cxn modelId="{B95BA7F0-99B2-4C64-AF3B-3E4F4C9925C6}" srcId="{70CCBF8A-DB45-4350-962B-ABFB87DDEA76}" destId="{F18A65A5-8D86-414B-BB9B-6BCE78D1AE43}" srcOrd="0" destOrd="0" parTransId="{2B26E55E-8AC1-4BCB-B2A6-3B298AA8930F}" sibTransId="{AC5B000C-F156-464A-BECE-8D5EDE0E51FE}"/>
    <dgm:cxn modelId="{FAF26590-D816-4A2E-B150-70A30207BB72}" type="presParOf" srcId="{3228B071-1BE0-4627-B143-2FE26D7D7FC3}" destId="{B0EAFBFC-2796-4FB7-989C-03A728C2FDEA}" srcOrd="0" destOrd="0" presId="urn:microsoft.com/office/officeart/2018/2/layout/IconVerticalSolidList"/>
    <dgm:cxn modelId="{D528259A-FF5C-49F7-ABA6-3589F2517CA9}" type="presParOf" srcId="{B0EAFBFC-2796-4FB7-989C-03A728C2FDEA}" destId="{B8544878-365D-48D6-99E6-0B87015D1364}" srcOrd="0" destOrd="0" presId="urn:microsoft.com/office/officeart/2018/2/layout/IconVerticalSolidList"/>
    <dgm:cxn modelId="{24C2355B-91E1-4D57-9C05-2CAD1E666C09}" type="presParOf" srcId="{B0EAFBFC-2796-4FB7-989C-03A728C2FDEA}" destId="{88A268F5-1E73-4D0A-A553-9569835BEA2D}" srcOrd="1" destOrd="0" presId="urn:microsoft.com/office/officeart/2018/2/layout/IconVerticalSolidList"/>
    <dgm:cxn modelId="{5257FBDF-D87E-4261-910D-76A2C19EC688}" type="presParOf" srcId="{B0EAFBFC-2796-4FB7-989C-03A728C2FDEA}" destId="{01631209-7FC9-42FF-A0EB-E4707FD94D72}" srcOrd="2" destOrd="0" presId="urn:microsoft.com/office/officeart/2018/2/layout/IconVerticalSolidList"/>
    <dgm:cxn modelId="{4CCC707B-D798-47D3-A662-564001001D6B}" type="presParOf" srcId="{B0EAFBFC-2796-4FB7-989C-03A728C2FDEA}" destId="{E89F39F7-D4A4-41C6-93CF-647D5ED7B78C}" srcOrd="3" destOrd="0" presId="urn:microsoft.com/office/officeart/2018/2/layout/IconVerticalSolidList"/>
    <dgm:cxn modelId="{676D4739-3EDC-4A98-A319-1FEA82C30922}" type="presParOf" srcId="{3228B071-1BE0-4627-B143-2FE26D7D7FC3}" destId="{7F9C592D-FF1F-48C3-A35F-FB544938BFD2}" srcOrd="1" destOrd="0" presId="urn:microsoft.com/office/officeart/2018/2/layout/IconVerticalSolidList"/>
    <dgm:cxn modelId="{290F82BF-3FED-46C4-B431-608DA916A1EE}" type="presParOf" srcId="{3228B071-1BE0-4627-B143-2FE26D7D7FC3}" destId="{F4618E82-B68F-4DF7-8E4D-56210B1A2D12}" srcOrd="2" destOrd="0" presId="urn:microsoft.com/office/officeart/2018/2/layout/IconVerticalSolidList"/>
    <dgm:cxn modelId="{C378026A-B695-451B-9B54-4418D55574A6}" type="presParOf" srcId="{F4618E82-B68F-4DF7-8E4D-56210B1A2D12}" destId="{17602C95-E161-40C0-B8AD-4C67407454AE}" srcOrd="0" destOrd="0" presId="urn:microsoft.com/office/officeart/2018/2/layout/IconVerticalSolidList"/>
    <dgm:cxn modelId="{AD83CBB2-7756-4716-A6B1-39211273D2A0}" type="presParOf" srcId="{F4618E82-B68F-4DF7-8E4D-56210B1A2D12}" destId="{E339350D-DDB5-4AB4-9578-01D78B2326C9}" srcOrd="1" destOrd="0" presId="urn:microsoft.com/office/officeart/2018/2/layout/IconVerticalSolidList"/>
    <dgm:cxn modelId="{410D23BA-1EBF-496E-9E6F-ED3D253CB562}" type="presParOf" srcId="{F4618E82-B68F-4DF7-8E4D-56210B1A2D12}" destId="{EF2F81FA-EB45-4F1B-960D-EA068B3A008D}" srcOrd="2" destOrd="0" presId="urn:microsoft.com/office/officeart/2018/2/layout/IconVerticalSolidList"/>
    <dgm:cxn modelId="{815F872E-F8CF-4658-8F78-B14FC9DEF739}" type="presParOf" srcId="{F4618E82-B68F-4DF7-8E4D-56210B1A2D12}" destId="{BF3969EA-8944-4481-B35E-B8CA9C7D8E8D}" srcOrd="3" destOrd="0" presId="urn:microsoft.com/office/officeart/2018/2/layout/IconVerticalSolidList"/>
    <dgm:cxn modelId="{DFA674FE-AF53-4021-AB24-ACCDBEE69AF4}" type="presParOf" srcId="{3228B071-1BE0-4627-B143-2FE26D7D7FC3}" destId="{3D31C0D4-B491-4242-8F75-132332820127}" srcOrd="3" destOrd="0" presId="urn:microsoft.com/office/officeart/2018/2/layout/IconVerticalSolidList"/>
    <dgm:cxn modelId="{94CB739E-6C6C-4A51-8EE6-AF5E4877F79B}" type="presParOf" srcId="{3228B071-1BE0-4627-B143-2FE26D7D7FC3}" destId="{CDE03B26-0CE1-497C-A8C3-4840ABFCDEAB}" srcOrd="4" destOrd="0" presId="urn:microsoft.com/office/officeart/2018/2/layout/IconVerticalSolidList"/>
    <dgm:cxn modelId="{2B4B70AB-B041-4171-A48A-5E54D731D0AB}" type="presParOf" srcId="{CDE03B26-0CE1-497C-A8C3-4840ABFCDEAB}" destId="{5F74AAAF-CE00-4112-8717-9417E8946E41}" srcOrd="0" destOrd="0" presId="urn:microsoft.com/office/officeart/2018/2/layout/IconVerticalSolidList"/>
    <dgm:cxn modelId="{ABA43A40-EB8F-42D9-913C-6022F6D1D4C9}" type="presParOf" srcId="{CDE03B26-0CE1-497C-A8C3-4840ABFCDEAB}" destId="{8FEC5493-DF84-4641-8AC0-13F783457585}" srcOrd="1" destOrd="0" presId="urn:microsoft.com/office/officeart/2018/2/layout/IconVerticalSolidList"/>
    <dgm:cxn modelId="{1EB4EBE6-E9FF-463D-A4CB-6054D4032DF6}" type="presParOf" srcId="{CDE03B26-0CE1-497C-A8C3-4840ABFCDEAB}" destId="{C615C746-1924-4BDD-842D-C5737F29F721}" srcOrd="2" destOrd="0" presId="urn:microsoft.com/office/officeart/2018/2/layout/IconVerticalSolidList"/>
    <dgm:cxn modelId="{4CAB8E4E-A349-48B6-981D-6460B288D6DA}" type="presParOf" srcId="{CDE03B26-0CE1-497C-A8C3-4840ABFCDEAB}" destId="{DC51E5C6-2712-4860-A97C-4CEB085182D1}" srcOrd="3" destOrd="0" presId="urn:microsoft.com/office/officeart/2018/2/layout/IconVerticalSolidList"/>
    <dgm:cxn modelId="{576CC858-6613-4C35-A17F-2E75F653924F}" type="presParOf" srcId="{3228B071-1BE0-4627-B143-2FE26D7D7FC3}" destId="{AB3E13E8-C0AF-4F67-86A7-1C3333A3202A}" srcOrd="5" destOrd="0" presId="urn:microsoft.com/office/officeart/2018/2/layout/IconVerticalSolidList"/>
    <dgm:cxn modelId="{2E85BB98-D254-4D49-A36E-BFA0E4581D82}" type="presParOf" srcId="{3228B071-1BE0-4627-B143-2FE26D7D7FC3}" destId="{5C44A3D7-E522-4CF1-8159-42F6C179764C}" srcOrd="6" destOrd="0" presId="urn:microsoft.com/office/officeart/2018/2/layout/IconVerticalSolidList"/>
    <dgm:cxn modelId="{987822A2-1B0A-45A2-BCA8-8DBC0EE10077}" type="presParOf" srcId="{5C44A3D7-E522-4CF1-8159-42F6C179764C}" destId="{D2122E1E-1C9D-473B-8414-AFDE92AA199D}" srcOrd="0" destOrd="0" presId="urn:microsoft.com/office/officeart/2018/2/layout/IconVerticalSolidList"/>
    <dgm:cxn modelId="{F906ECB0-77AD-4968-9C01-7E5E7987870C}" type="presParOf" srcId="{5C44A3D7-E522-4CF1-8159-42F6C179764C}" destId="{C48297C3-0809-459A-AAAD-803C877CEDA5}" srcOrd="1" destOrd="0" presId="urn:microsoft.com/office/officeart/2018/2/layout/IconVerticalSolidList"/>
    <dgm:cxn modelId="{531B15B4-85F1-497A-87E5-68B360476B98}" type="presParOf" srcId="{5C44A3D7-E522-4CF1-8159-42F6C179764C}" destId="{7C877564-E05E-4447-B6AE-35E7B0CED70E}" srcOrd="2" destOrd="0" presId="urn:microsoft.com/office/officeart/2018/2/layout/IconVerticalSolidList"/>
    <dgm:cxn modelId="{A1B13EA9-8F89-4C0C-B0AA-DAD239105AE7}" type="presParOf" srcId="{5C44A3D7-E522-4CF1-8159-42F6C179764C}" destId="{03171D14-EA69-45A4-94AB-E6650EA5E4C1}" srcOrd="3" destOrd="0" presId="urn:microsoft.com/office/officeart/2018/2/layout/IconVerticalSolidList"/>
    <dgm:cxn modelId="{886A0B6C-A60A-4070-9854-454D838951CA}" type="presParOf" srcId="{3228B071-1BE0-4627-B143-2FE26D7D7FC3}" destId="{216BB521-900C-49DF-94F4-301AC40706C4}" srcOrd="7" destOrd="0" presId="urn:microsoft.com/office/officeart/2018/2/layout/IconVerticalSolidList"/>
    <dgm:cxn modelId="{D80D0911-0DD1-4520-8A38-6D4B37A4E7E7}" type="presParOf" srcId="{3228B071-1BE0-4627-B143-2FE26D7D7FC3}" destId="{FE0B1458-1625-4121-A6F5-FFC66D08179C}" srcOrd="8" destOrd="0" presId="urn:microsoft.com/office/officeart/2018/2/layout/IconVerticalSolidList"/>
    <dgm:cxn modelId="{D30F106D-D7E9-4E5D-A2A0-A41744C32AB1}" type="presParOf" srcId="{FE0B1458-1625-4121-A6F5-FFC66D08179C}" destId="{8969CA47-99F3-4BA3-A938-9ACA68C02FED}" srcOrd="0" destOrd="0" presId="urn:microsoft.com/office/officeart/2018/2/layout/IconVerticalSolidList"/>
    <dgm:cxn modelId="{441C3BF4-850A-4523-B78C-3F7174113F2F}" type="presParOf" srcId="{FE0B1458-1625-4121-A6F5-FFC66D08179C}" destId="{A607A9CC-C4FF-486C-85D0-367D53E9AE4E}" srcOrd="1" destOrd="0" presId="urn:microsoft.com/office/officeart/2018/2/layout/IconVerticalSolidList"/>
    <dgm:cxn modelId="{CA55D697-B738-4145-8381-227894ED7284}" type="presParOf" srcId="{FE0B1458-1625-4121-A6F5-FFC66D08179C}" destId="{8D799799-A723-4A86-B982-E60743018ACB}" srcOrd="2" destOrd="0" presId="urn:microsoft.com/office/officeart/2018/2/layout/IconVerticalSolidList"/>
    <dgm:cxn modelId="{187B637F-1206-4FD7-808D-D7CEFFF4675D}" type="presParOf" srcId="{FE0B1458-1625-4121-A6F5-FFC66D08179C}" destId="{F72D530F-2A51-4CD4-93FC-7A193D59B5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565BCF-838B-4728-8554-DCC3308D96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201331-EB06-4B84-8294-B7D17AFA044C}">
      <dgm:prSet/>
      <dgm:spPr/>
      <dgm:t>
        <a:bodyPr/>
        <a:lstStyle/>
        <a:p>
          <a:r>
            <a:rPr lang="en-US"/>
            <a:t>Hospital performance varies significantly across different U.S. states.</a:t>
          </a:r>
        </a:p>
      </dgm:t>
    </dgm:pt>
    <dgm:pt modelId="{3455CD63-D9CA-45A1-A7C5-C9C22C562BDC}" type="parTrans" cxnId="{DDA0E2F4-78DC-43D2-9A23-00A1EA54DB69}">
      <dgm:prSet/>
      <dgm:spPr/>
      <dgm:t>
        <a:bodyPr/>
        <a:lstStyle/>
        <a:p>
          <a:endParaRPr lang="en-US"/>
        </a:p>
      </dgm:t>
    </dgm:pt>
    <dgm:pt modelId="{222B829F-A60C-4B42-A472-B1CBDDCB432D}" type="sibTrans" cxnId="{DDA0E2F4-78DC-43D2-9A23-00A1EA54DB69}">
      <dgm:prSet/>
      <dgm:spPr/>
      <dgm:t>
        <a:bodyPr/>
        <a:lstStyle/>
        <a:p>
          <a:endParaRPr lang="en-US"/>
        </a:p>
      </dgm:t>
    </dgm:pt>
    <dgm:pt modelId="{FE8254C0-CE30-4F3F-A96D-BA6A8904D33C}">
      <dgm:prSet/>
      <dgm:spPr/>
      <dgm:t>
        <a:bodyPr/>
        <a:lstStyle/>
        <a:p>
          <a:r>
            <a:rPr lang="en-US"/>
            <a:t>States like </a:t>
          </a:r>
          <a:r>
            <a:rPr lang="en-US" b="1"/>
            <a:t>California and Texas</a:t>
          </a:r>
          <a:r>
            <a:rPr lang="en-US"/>
            <a:t> generate the highest hospital revenue.</a:t>
          </a:r>
        </a:p>
      </dgm:t>
    </dgm:pt>
    <dgm:pt modelId="{99E04F44-7F4D-4945-9F96-247C361B6701}" type="parTrans" cxnId="{AB1D06F1-77D2-498C-B911-115693EEC047}">
      <dgm:prSet/>
      <dgm:spPr/>
      <dgm:t>
        <a:bodyPr/>
        <a:lstStyle/>
        <a:p>
          <a:endParaRPr lang="en-US"/>
        </a:p>
      </dgm:t>
    </dgm:pt>
    <dgm:pt modelId="{AA730506-2DC4-4A0D-BE39-D47619B06005}" type="sibTrans" cxnId="{AB1D06F1-77D2-498C-B911-115693EEC047}">
      <dgm:prSet/>
      <dgm:spPr/>
      <dgm:t>
        <a:bodyPr/>
        <a:lstStyle/>
        <a:p>
          <a:endParaRPr lang="en-US"/>
        </a:p>
      </dgm:t>
    </dgm:pt>
    <dgm:pt modelId="{6D4FE364-49CA-4953-8C75-3E41B4F3F60C}">
      <dgm:prSet/>
      <dgm:spPr/>
      <dgm:t>
        <a:bodyPr/>
        <a:lstStyle/>
        <a:p>
          <a:r>
            <a:rPr lang="en-US"/>
            <a:t>Profit margins are higher in some smaller states compared to large population states.</a:t>
          </a:r>
        </a:p>
      </dgm:t>
    </dgm:pt>
    <dgm:pt modelId="{E847BE77-76A1-48EA-83B4-25889801051F}" type="parTrans" cxnId="{CB24BC93-6DB2-491A-BC27-16E659E9B001}">
      <dgm:prSet/>
      <dgm:spPr/>
      <dgm:t>
        <a:bodyPr/>
        <a:lstStyle/>
        <a:p>
          <a:endParaRPr lang="en-US"/>
        </a:p>
      </dgm:t>
    </dgm:pt>
    <dgm:pt modelId="{10BA2BC2-8541-4CCD-89A4-E7666894DAB1}" type="sibTrans" cxnId="{CB24BC93-6DB2-491A-BC27-16E659E9B001}">
      <dgm:prSet/>
      <dgm:spPr/>
      <dgm:t>
        <a:bodyPr/>
        <a:lstStyle/>
        <a:p>
          <a:endParaRPr lang="en-US"/>
        </a:p>
      </dgm:t>
    </dgm:pt>
    <dgm:pt modelId="{B337B7A6-0F04-49E9-8511-5105D05BE6C6}">
      <dgm:prSet/>
      <dgm:spPr/>
      <dgm:t>
        <a:bodyPr/>
        <a:lstStyle/>
        <a:p>
          <a:r>
            <a:rPr lang="en-US"/>
            <a:t>Occupancy rates differ by region, showing uneven demand for hospital services.</a:t>
          </a:r>
        </a:p>
      </dgm:t>
    </dgm:pt>
    <dgm:pt modelId="{08AA48CB-F718-4D6F-BB43-D001A69EF826}" type="parTrans" cxnId="{889FE41B-720E-465B-92E1-5E96983CA588}">
      <dgm:prSet/>
      <dgm:spPr/>
      <dgm:t>
        <a:bodyPr/>
        <a:lstStyle/>
        <a:p>
          <a:endParaRPr lang="en-US"/>
        </a:p>
      </dgm:t>
    </dgm:pt>
    <dgm:pt modelId="{931EAEB6-0F66-4431-86FA-11447B023EA1}" type="sibTrans" cxnId="{889FE41B-720E-465B-92E1-5E96983CA588}">
      <dgm:prSet/>
      <dgm:spPr/>
      <dgm:t>
        <a:bodyPr/>
        <a:lstStyle/>
        <a:p>
          <a:endParaRPr lang="en-US"/>
        </a:p>
      </dgm:t>
    </dgm:pt>
    <dgm:pt modelId="{4C908C01-9147-4133-93B7-8EE44656EAED}">
      <dgm:prSet/>
      <dgm:spPr/>
      <dgm:t>
        <a:bodyPr/>
        <a:lstStyle/>
        <a:p>
          <a:r>
            <a:rPr lang="en-US"/>
            <a:t>Urban hospitals tend to report stronger revenue concentrations than rural areas.</a:t>
          </a:r>
        </a:p>
      </dgm:t>
    </dgm:pt>
    <dgm:pt modelId="{E5CF608D-3ADB-4E35-92F3-7508FD403596}" type="parTrans" cxnId="{1ED9645F-C74C-4146-9702-59CE69399655}">
      <dgm:prSet/>
      <dgm:spPr/>
      <dgm:t>
        <a:bodyPr/>
        <a:lstStyle/>
        <a:p>
          <a:endParaRPr lang="en-US"/>
        </a:p>
      </dgm:t>
    </dgm:pt>
    <dgm:pt modelId="{744CD14E-13EF-47FE-939E-321F4B745FBB}" type="sibTrans" cxnId="{1ED9645F-C74C-4146-9702-59CE69399655}">
      <dgm:prSet/>
      <dgm:spPr/>
      <dgm:t>
        <a:bodyPr/>
        <a:lstStyle/>
        <a:p>
          <a:endParaRPr lang="en-US"/>
        </a:p>
      </dgm:t>
    </dgm:pt>
    <dgm:pt modelId="{202A5F80-4B6C-4F47-96B8-20AD343C6D71}" type="pres">
      <dgm:prSet presAssocID="{F7565BCF-838B-4728-8554-DCC3308D9674}" presName="root" presStyleCnt="0">
        <dgm:presLayoutVars>
          <dgm:dir/>
          <dgm:resizeHandles val="exact"/>
        </dgm:presLayoutVars>
      </dgm:prSet>
      <dgm:spPr/>
    </dgm:pt>
    <dgm:pt modelId="{676021E3-8650-4546-8A85-1CF6526AD48B}" type="pres">
      <dgm:prSet presAssocID="{BA201331-EB06-4B84-8294-B7D17AFA044C}" presName="compNode" presStyleCnt="0"/>
      <dgm:spPr/>
    </dgm:pt>
    <dgm:pt modelId="{1ADD2512-9B62-4186-845F-014627FB77F2}" type="pres">
      <dgm:prSet presAssocID="{BA201331-EB06-4B84-8294-B7D17AFA044C}" presName="bgRect" presStyleLbl="bgShp" presStyleIdx="0" presStyleCnt="5"/>
      <dgm:spPr/>
    </dgm:pt>
    <dgm:pt modelId="{8C5DF831-24D5-4627-AED1-7A111DB9B3F7}" type="pres">
      <dgm:prSet presAssocID="{BA201331-EB06-4B84-8294-B7D17AFA044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603BEC65-0CAF-4AC5-82AB-B4491636D828}" type="pres">
      <dgm:prSet presAssocID="{BA201331-EB06-4B84-8294-B7D17AFA044C}" presName="spaceRect" presStyleCnt="0"/>
      <dgm:spPr/>
    </dgm:pt>
    <dgm:pt modelId="{2F027896-7977-4333-AC72-60A001C64117}" type="pres">
      <dgm:prSet presAssocID="{BA201331-EB06-4B84-8294-B7D17AFA044C}" presName="parTx" presStyleLbl="revTx" presStyleIdx="0" presStyleCnt="5">
        <dgm:presLayoutVars>
          <dgm:chMax val="0"/>
          <dgm:chPref val="0"/>
        </dgm:presLayoutVars>
      </dgm:prSet>
      <dgm:spPr/>
    </dgm:pt>
    <dgm:pt modelId="{465DAD0D-0843-4772-8965-EF5CB019B20F}" type="pres">
      <dgm:prSet presAssocID="{222B829F-A60C-4B42-A472-B1CBDDCB432D}" presName="sibTrans" presStyleCnt="0"/>
      <dgm:spPr/>
    </dgm:pt>
    <dgm:pt modelId="{A4014172-B6B8-4AFF-9C43-684B0681D7F9}" type="pres">
      <dgm:prSet presAssocID="{FE8254C0-CE30-4F3F-A96D-BA6A8904D33C}" presName="compNode" presStyleCnt="0"/>
      <dgm:spPr/>
    </dgm:pt>
    <dgm:pt modelId="{582839B7-CC0D-437A-8767-E1704F427512}" type="pres">
      <dgm:prSet presAssocID="{FE8254C0-CE30-4F3F-A96D-BA6A8904D33C}" presName="bgRect" presStyleLbl="bgShp" presStyleIdx="1" presStyleCnt="5"/>
      <dgm:spPr/>
    </dgm:pt>
    <dgm:pt modelId="{DDFA6711-F770-46BD-AA3A-68B0B08A8D34}" type="pres">
      <dgm:prSet presAssocID="{FE8254C0-CE30-4F3F-A96D-BA6A8904D33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C4708418-A688-47C3-BAFA-FC989E6BA865}" type="pres">
      <dgm:prSet presAssocID="{FE8254C0-CE30-4F3F-A96D-BA6A8904D33C}" presName="spaceRect" presStyleCnt="0"/>
      <dgm:spPr/>
    </dgm:pt>
    <dgm:pt modelId="{A578242A-8213-41B3-A3C1-291F25588D52}" type="pres">
      <dgm:prSet presAssocID="{FE8254C0-CE30-4F3F-A96D-BA6A8904D33C}" presName="parTx" presStyleLbl="revTx" presStyleIdx="1" presStyleCnt="5">
        <dgm:presLayoutVars>
          <dgm:chMax val="0"/>
          <dgm:chPref val="0"/>
        </dgm:presLayoutVars>
      </dgm:prSet>
      <dgm:spPr/>
    </dgm:pt>
    <dgm:pt modelId="{C8658F55-728E-467B-B3D8-D08ED527B064}" type="pres">
      <dgm:prSet presAssocID="{AA730506-2DC4-4A0D-BE39-D47619B06005}" presName="sibTrans" presStyleCnt="0"/>
      <dgm:spPr/>
    </dgm:pt>
    <dgm:pt modelId="{E398A72D-ABF9-4D1B-8302-FE65442DD833}" type="pres">
      <dgm:prSet presAssocID="{6D4FE364-49CA-4953-8C75-3E41B4F3F60C}" presName="compNode" presStyleCnt="0"/>
      <dgm:spPr/>
    </dgm:pt>
    <dgm:pt modelId="{88962184-2AE3-4796-BBB5-4803E5CD977D}" type="pres">
      <dgm:prSet presAssocID="{6D4FE364-49CA-4953-8C75-3E41B4F3F60C}" presName="bgRect" presStyleLbl="bgShp" presStyleIdx="2" presStyleCnt="5"/>
      <dgm:spPr/>
    </dgm:pt>
    <dgm:pt modelId="{57309F09-1E0E-46DB-8EC2-08F6BECE970B}" type="pres">
      <dgm:prSet presAssocID="{6D4FE364-49CA-4953-8C75-3E41B4F3F60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8F9BF8E3-EFE7-43D5-9E92-9EA4A5E51E9C}" type="pres">
      <dgm:prSet presAssocID="{6D4FE364-49CA-4953-8C75-3E41B4F3F60C}" presName="spaceRect" presStyleCnt="0"/>
      <dgm:spPr/>
    </dgm:pt>
    <dgm:pt modelId="{28703B96-9255-4387-9769-02447EE09A6C}" type="pres">
      <dgm:prSet presAssocID="{6D4FE364-49CA-4953-8C75-3E41B4F3F60C}" presName="parTx" presStyleLbl="revTx" presStyleIdx="2" presStyleCnt="5">
        <dgm:presLayoutVars>
          <dgm:chMax val="0"/>
          <dgm:chPref val="0"/>
        </dgm:presLayoutVars>
      </dgm:prSet>
      <dgm:spPr/>
    </dgm:pt>
    <dgm:pt modelId="{98A9246C-F1DD-48F5-8E8B-7912E987C755}" type="pres">
      <dgm:prSet presAssocID="{10BA2BC2-8541-4CCD-89A4-E7666894DAB1}" presName="sibTrans" presStyleCnt="0"/>
      <dgm:spPr/>
    </dgm:pt>
    <dgm:pt modelId="{D088A82A-CC6A-4559-914D-818DBC349ED9}" type="pres">
      <dgm:prSet presAssocID="{B337B7A6-0F04-49E9-8511-5105D05BE6C6}" presName="compNode" presStyleCnt="0"/>
      <dgm:spPr/>
    </dgm:pt>
    <dgm:pt modelId="{9C0071AD-FAE7-4827-8EE9-016A154F2F64}" type="pres">
      <dgm:prSet presAssocID="{B337B7A6-0F04-49E9-8511-5105D05BE6C6}" presName="bgRect" presStyleLbl="bgShp" presStyleIdx="3" presStyleCnt="5"/>
      <dgm:spPr/>
    </dgm:pt>
    <dgm:pt modelId="{78BB8061-AB3E-4A41-AD69-A7E80C39E1BF}" type="pres">
      <dgm:prSet presAssocID="{B337B7A6-0F04-49E9-8511-5105D05BE6C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1CBB22CF-F543-4AA2-ABBE-B21E6C61E520}" type="pres">
      <dgm:prSet presAssocID="{B337B7A6-0F04-49E9-8511-5105D05BE6C6}" presName="spaceRect" presStyleCnt="0"/>
      <dgm:spPr/>
    </dgm:pt>
    <dgm:pt modelId="{3C80EB80-B835-45DF-91BF-8B5AA5B74D88}" type="pres">
      <dgm:prSet presAssocID="{B337B7A6-0F04-49E9-8511-5105D05BE6C6}" presName="parTx" presStyleLbl="revTx" presStyleIdx="3" presStyleCnt="5">
        <dgm:presLayoutVars>
          <dgm:chMax val="0"/>
          <dgm:chPref val="0"/>
        </dgm:presLayoutVars>
      </dgm:prSet>
      <dgm:spPr/>
    </dgm:pt>
    <dgm:pt modelId="{6E0433DA-DD6E-4B5D-B73E-22C72DEB0858}" type="pres">
      <dgm:prSet presAssocID="{931EAEB6-0F66-4431-86FA-11447B023EA1}" presName="sibTrans" presStyleCnt="0"/>
      <dgm:spPr/>
    </dgm:pt>
    <dgm:pt modelId="{1F682BB5-0A70-4B27-B7FA-C6362E68F486}" type="pres">
      <dgm:prSet presAssocID="{4C908C01-9147-4133-93B7-8EE44656EAED}" presName="compNode" presStyleCnt="0"/>
      <dgm:spPr/>
    </dgm:pt>
    <dgm:pt modelId="{EB28C6CF-2CE3-4F5A-AADF-C4123319E784}" type="pres">
      <dgm:prSet presAssocID="{4C908C01-9147-4133-93B7-8EE44656EAED}" presName="bgRect" presStyleLbl="bgShp" presStyleIdx="4" presStyleCnt="5"/>
      <dgm:spPr/>
    </dgm:pt>
    <dgm:pt modelId="{9253CF47-4DC2-485C-912B-E7B7A5FE31B5}" type="pres">
      <dgm:prSet presAssocID="{4C908C01-9147-4133-93B7-8EE44656EAE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D7DF35ED-2CBD-452B-A441-553380326FA2}" type="pres">
      <dgm:prSet presAssocID="{4C908C01-9147-4133-93B7-8EE44656EAED}" presName="spaceRect" presStyleCnt="0"/>
      <dgm:spPr/>
    </dgm:pt>
    <dgm:pt modelId="{BE1A7C4F-93AC-462D-9E6A-16D5E296F060}" type="pres">
      <dgm:prSet presAssocID="{4C908C01-9147-4133-93B7-8EE44656EAE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FAA6816-1F99-480E-AAD4-4793798C010E}" type="presOf" srcId="{F7565BCF-838B-4728-8554-DCC3308D9674}" destId="{202A5F80-4B6C-4F47-96B8-20AD343C6D71}" srcOrd="0" destOrd="0" presId="urn:microsoft.com/office/officeart/2018/2/layout/IconVerticalSolidList"/>
    <dgm:cxn modelId="{889FE41B-720E-465B-92E1-5E96983CA588}" srcId="{F7565BCF-838B-4728-8554-DCC3308D9674}" destId="{B337B7A6-0F04-49E9-8511-5105D05BE6C6}" srcOrd="3" destOrd="0" parTransId="{08AA48CB-F718-4D6F-BB43-D001A69EF826}" sibTransId="{931EAEB6-0F66-4431-86FA-11447B023EA1}"/>
    <dgm:cxn modelId="{492B8423-FB16-4479-832B-9FEB0BD20D41}" type="presOf" srcId="{BA201331-EB06-4B84-8294-B7D17AFA044C}" destId="{2F027896-7977-4333-AC72-60A001C64117}" srcOrd="0" destOrd="0" presId="urn:microsoft.com/office/officeart/2018/2/layout/IconVerticalSolidList"/>
    <dgm:cxn modelId="{34866126-76F7-4502-B5F3-92EA27A27014}" type="presOf" srcId="{B337B7A6-0F04-49E9-8511-5105D05BE6C6}" destId="{3C80EB80-B835-45DF-91BF-8B5AA5B74D88}" srcOrd="0" destOrd="0" presId="urn:microsoft.com/office/officeart/2018/2/layout/IconVerticalSolidList"/>
    <dgm:cxn modelId="{FAE0C62F-FFB0-4899-A8ED-7FE2950098C3}" type="presOf" srcId="{4C908C01-9147-4133-93B7-8EE44656EAED}" destId="{BE1A7C4F-93AC-462D-9E6A-16D5E296F060}" srcOrd="0" destOrd="0" presId="urn:microsoft.com/office/officeart/2018/2/layout/IconVerticalSolidList"/>
    <dgm:cxn modelId="{1ED9645F-C74C-4146-9702-59CE69399655}" srcId="{F7565BCF-838B-4728-8554-DCC3308D9674}" destId="{4C908C01-9147-4133-93B7-8EE44656EAED}" srcOrd="4" destOrd="0" parTransId="{E5CF608D-3ADB-4E35-92F3-7508FD403596}" sibTransId="{744CD14E-13EF-47FE-939E-321F4B745FBB}"/>
    <dgm:cxn modelId="{A32DBB85-7882-463A-A454-C2B15C5D98DB}" type="presOf" srcId="{6D4FE364-49CA-4953-8C75-3E41B4F3F60C}" destId="{28703B96-9255-4387-9769-02447EE09A6C}" srcOrd="0" destOrd="0" presId="urn:microsoft.com/office/officeart/2018/2/layout/IconVerticalSolidList"/>
    <dgm:cxn modelId="{CB24BC93-6DB2-491A-BC27-16E659E9B001}" srcId="{F7565BCF-838B-4728-8554-DCC3308D9674}" destId="{6D4FE364-49CA-4953-8C75-3E41B4F3F60C}" srcOrd="2" destOrd="0" parTransId="{E847BE77-76A1-48EA-83B4-25889801051F}" sibTransId="{10BA2BC2-8541-4CCD-89A4-E7666894DAB1}"/>
    <dgm:cxn modelId="{810D36A4-8294-41ED-9AEA-854AB9DC92CE}" type="presOf" srcId="{FE8254C0-CE30-4F3F-A96D-BA6A8904D33C}" destId="{A578242A-8213-41B3-A3C1-291F25588D52}" srcOrd="0" destOrd="0" presId="urn:microsoft.com/office/officeart/2018/2/layout/IconVerticalSolidList"/>
    <dgm:cxn modelId="{AB1D06F1-77D2-498C-B911-115693EEC047}" srcId="{F7565BCF-838B-4728-8554-DCC3308D9674}" destId="{FE8254C0-CE30-4F3F-A96D-BA6A8904D33C}" srcOrd="1" destOrd="0" parTransId="{99E04F44-7F4D-4945-9F96-247C361B6701}" sibTransId="{AA730506-2DC4-4A0D-BE39-D47619B06005}"/>
    <dgm:cxn modelId="{DDA0E2F4-78DC-43D2-9A23-00A1EA54DB69}" srcId="{F7565BCF-838B-4728-8554-DCC3308D9674}" destId="{BA201331-EB06-4B84-8294-B7D17AFA044C}" srcOrd="0" destOrd="0" parTransId="{3455CD63-D9CA-45A1-A7C5-C9C22C562BDC}" sibTransId="{222B829F-A60C-4B42-A472-B1CBDDCB432D}"/>
    <dgm:cxn modelId="{159A618C-18AF-4237-A3D6-6CCE858E2EDE}" type="presParOf" srcId="{202A5F80-4B6C-4F47-96B8-20AD343C6D71}" destId="{676021E3-8650-4546-8A85-1CF6526AD48B}" srcOrd="0" destOrd="0" presId="urn:microsoft.com/office/officeart/2018/2/layout/IconVerticalSolidList"/>
    <dgm:cxn modelId="{54C8C6B4-D1D6-4D8D-8151-9B114C7F77A8}" type="presParOf" srcId="{676021E3-8650-4546-8A85-1CF6526AD48B}" destId="{1ADD2512-9B62-4186-845F-014627FB77F2}" srcOrd="0" destOrd="0" presId="urn:microsoft.com/office/officeart/2018/2/layout/IconVerticalSolidList"/>
    <dgm:cxn modelId="{3291AC6B-A0D1-4227-BC56-3C55DA562A88}" type="presParOf" srcId="{676021E3-8650-4546-8A85-1CF6526AD48B}" destId="{8C5DF831-24D5-4627-AED1-7A111DB9B3F7}" srcOrd="1" destOrd="0" presId="urn:microsoft.com/office/officeart/2018/2/layout/IconVerticalSolidList"/>
    <dgm:cxn modelId="{BD6370C6-A109-406B-B629-3A32F4FF883D}" type="presParOf" srcId="{676021E3-8650-4546-8A85-1CF6526AD48B}" destId="{603BEC65-0CAF-4AC5-82AB-B4491636D828}" srcOrd="2" destOrd="0" presId="urn:microsoft.com/office/officeart/2018/2/layout/IconVerticalSolidList"/>
    <dgm:cxn modelId="{C6873123-6A19-4DA5-87C3-AB1CFC42E887}" type="presParOf" srcId="{676021E3-8650-4546-8A85-1CF6526AD48B}" destId="{2F027896-7977-4333-AC72-60A001C64117}" srcOrd="3" destOrd="0" presId="urn:microsoft.com/office/officeart/2018/2/layout/IconVerticalSolidList"/>
    <dgm:cxn modelId="{631B7A44-04E6-45A0-9D54-25EFB65384B0}" type="presParOf" srcId="{202A5F80-4B6C-4F47-96B8-20AD343C6D71}" destId="{465DAD0D-0843-4772-8965-EF5CB019B20F}" srcOrd="1" destOrd="0" presId="urn:microsoft.com/office/officeart/2018/2/layout/IconVerticalSolidList"/>
    <dgm:cxn modelId="{64C46B4E-0BB5-4DB6-BFE5-1AF854826914}" type="presParOf" srcId="{202A5F80-4B6C-4F47-96B8-20AD343C6D71}" destId="{A4014172-B6B8-4AFF-9C43-684B0681D7F9}" srcOrd="2" destOrd="0" presId="urn:microsoft.com/office/officeart/2018/2/layout/IconVerticalSolidList"/>
    <dgm:cxn modelId="{7790AEDA-4E53-4C4B-A5EE-57936BEA6B99}" type="presParOf" srcId="{A4014172-B6B8-4AFF-9C43-684B0681D7F9}" destId="{582839B7-CC0D-437A-8767-E1704F427512}" srcOrd="0" destOrd="0" presId="urn:microsoft.com/office/officeart/2018/2/layout/IconVerticalSolidList"/>
    <dgm:cxn modelId="{2A7759E3-0487-41AF-B3A8-2FAD3752F142}" type="presParOf" srcId="{A4014172-B6B8-4AFF-9C43-684B0681D7F9}" destId="{DDFA6711-F770-46BD-AA3A-68B0B08A8D34}" srcOrd="1" destOrd="0" presId="urn:microsoft.com/office/officeart/2018/2/layout/IconVerticalSolidList"/>
    <dgm:cxn modelId="{CE3C4719-F7BD-493F-AE40-1C49BBACBE76}" type="presParOf" srcId="{A4014172-B6B8-4AFF-9C43-684B0681D7F9}" destId="{C4708418-A688-47C3-BAFA-FC989E6BA865}" srcOrd="2" destOrd="0" presId="urn:microsoft.com/office/officeart/2018/2/layout/IconVerticalSolidList"/>
    <dgm:cxn modelId="{D0361F89-6D15-458B-94AE-B1B131D6C60A}" type="presParOf" srcId="{A4014172-B6B8-4AFF-9C43-684B0681D7F9}" destId="{A578242A-8213-41B3-A3C1-291F25588D52}" srcOrd="3" destOrd="0" presId="urn:microsoft.com/office/officeart/2018/2/layout/IconVerticalSolidList"/>
    <dgm:cxn modelId="{8B77CAE7-E4C6-42EB-9E05-019C922D3BB0}" type="presParOf" srcId="{202A5F80-4B6C-4F47-96B8-20AD343C6D71}" destId="{C8658F55-728E-467B-B3D8-D08ED527B064}" srcOrd="3" destOrd="0" presId="urn:microsoft.com/office/officeart/2018/2/layout/IconVerticalSolidList"/>
    <dgm:cxn modelId="{97E6BDC3-4E82-445E-A464-DD67594B5F93}" type="presParOf" srcId="{202A5F80-4B6C-4F47-96B8-20AD343C6D71}" destId="{E398A72D-ABF9-4D1B-8302-FE65442DD833}" srcOrd="4" destOrd="0" presId="urn:microsoft.com/office/officeart/2018/2/layout/IconVerticalSolidList"/>
    <dgm:cxn modelId="{2F86D06F-8F4E-4E1D-A806-34ACD7BE0B24}" type="presParOf" srcId="{E398A72D-ABF9-4D1B-8302-FE65442DD833}" destId="{88962184-2AE3-4796-BBB5-4803E5CD977D}" srcOrd="0" destOrd="0" presId="urn:microsoft.com/office/officeart/2018/2/layout/IconVerticalSolidList"/>
    <dgm:cxn modelId="{590419FE-D970-4190-BC0C-3F18E1B1D921}" type="presParOf" srcId="{E398A72D-ABF9-4D1B-8302-FE65442DD833}" destId="{57309F09-1E0E-46DB-8EC2-08F6BECE970B}" srcOrd="1" destOrd="0" presId="urn:microsoft.com/office/officeart/2018/2/layout/IconVerticalSolidList"/>
    <dgm:cxn modelId="{A6C60202-2DFD-4676-9481-29AB5964FAEC}" type="presParOf" srcId="{E398A72D-ABF9-4D1B-8302-FE65442DD833}" destId="{8F9BF8E3-EFE7-43D5-9E92-9EA4A5E51E9C}" srcOrd="2" destOrd="0" presId="urn:microsoft.com/office/officeart/2018/2/layout/IconVerticalSolidList"/>
    <dgm:cxn modelId="{984A6993-EB45-4D46-897F-DE4EB0FB908A}" type="presParOf" srcId="{E398A72D-ABF9-4D1B-8302-FE65442DD833}" destId="{28703B96-9255-4387-9769-02447EE09A6C}" srcOrd="3" destOrd="0" presId="urn:microsoft.com/office/officeart/2018/2/layout/IconVerticalSolidList"/>
    <dgm:cxn modelId="{6F7410DB-6BC6-4242-97F1-91184B30A5E1}" type="presParOf" srcId="{202A5F80-4B6C-4F47-96B8-20AD343C6D71}" destId="{98A9246C-F1DD-48F5-8E8B-7912E987C755}" srcOrd="5" destOrd="0" presId="urn:microsoft.com/office/officeart/2018/2/layout/IconVerticalSolidList"/>
    <dgm:cxn modelId="{3D57E42E-3CEE-4F2E-B156-BCBADED78875}" type="presParOf" srcId="{202A5F80-4B6C-4F47-96B8-20AD343C6D71}" destId="{D088A82A-CC6A-4559-914D-818DBC349ED9}" srcOrd="6" destOrd="0" presId="urn:microsoft.com/office/officeart/2018/2/layout/IconVerticalSolidList"/>
    <dgm:cxn modelId="{404E005E-E5EB-4F54-BB19-CBA57020D52E}" type="presParOf" srcId="{D088A82A-CC6A-4559-914D-818DBC349ED9}" destId="{9C0071AD-FAE7-4827-8EE9-016A154F2F64}" srcOrd="0" destOrd="0" presId="urn:microsoft.com/office/officeart/2018/2/layout/IconVerticalSolidList"/>
    <dgm:cxn modelId="{1A597824-B3A6-4024-AA74-848EBD9F5964}" type="presParOf" srcId="{D088A82A-CC6A-4559-914D-818DBC349ED9}" destId="{78BB8061-AB3E-4A41-AD69-A7E80C39E1BF}" srcOrd="1" destOrd="0" presId="urn:microsoft.com/office/officeart/2018/2/layout/IconVerticalSolidList"/>
    <dgm:cxn modelId="{3FCC59D2-5881-478C-B149-A6790C8A9EBD}" type="presParOf" srcId="{D088A82A-CC6A-4559-914D-818DBC349ED9}" destId="{1CBB22CF-F543-4AA2-ABBE-B21E6C61E520}" srcOrd="2" destOrd="0" presId="urn:microsoft.com/office/officeart/2018/2/layout/IconVerticalSolidList"/>
    <dgm:cxn modelId="{BE862D2A-CDD1-40F2-B964-C6090AAD035F}" type="presParOf" srcId="{D088A82A-CC6A-4559-914D-818DBC349ED9}" destId="{3C80EB80-B835-45DF-91BF-8B5AA5B74D88}" srcOrd="3" destOrd="0" presId="urn:microsoft.com/office/officeart/2018/2/layout/IconVerticalSolidList"/>
    <dgm:cxn modelId="{29ADA75F-AA91-4FF6-AC74-98EA02CA4787}" type="presParOf" srcId="{202A5F80-4B6C-4F47-96B8-20AD343C6D71}" destId="{6E0433DA-DD6E-4B5D-B73E-22C72DEB0858}" srcOrd="7" destOrd="0" presId="urn:microsoft.com/office/officeart/2018/2/layout/IconVerticalSolidList"/>
    <dgm:cxn modelId="{9875C9FE-18B4-4429-97B8-F2E7A47EE2D5}" type="presParOf" srcId="{202A5F80-4B6C-4F47-96B8-20AD343C6D71}" destId="{1F682BB5-0A70-4B27-B7FA-C6362E68F486}" srcOrd="8" destOrd="0" presId="urn:microsoft.com/office/officeart/2018/2/layout/IconVerticalSolidList"/>
    <dgm:cxn modelId="{B70A9BEA-8E64-4702-9065-B581FB43A141}" type="presParOf" srcId="{1F682BB5-0A70-4B27-B7FA-C6362E68F486}" destId="{EB28C6CF-2CE3-4F5A-AADF-C4123319E784}" srcOrd="0" destOrd="0" presId="urn:microsoft.com/office/officeart/2018/2/layout/IconVerticalSolidList"/>
    <dgm:cxn modelId="{C804A899-EA67-471A-80B9-C327759820E3}" type="presParOf" srcId="{1F682BB5-0A70-4B27-B7FA-C6362E68F486}" destId="{9253CF47-4DC2-485C-912B-E7B7A5FE31B5}" srcOrd="1" destOrd="0" presId="urn:microsoft.com/office/officeart/2018/2/layout/IconVerticalSolidList"/>
    <dgm:cxn modelId="{69BA949E-B653-4341-8283-F4316E41CEE7}" type="presParOf" srcId="{1F682BB5-0A70-4B27-B7FA-C6362E68F486}" destId="{D7DF35ED-2CBD-452B-A441-553380326FA2}" srcOrd="2" destOrd="0" presId="urn:microsoft.com/office/officeart/2018/2/layout/IconVerticalSolidList"/>
    <dgm:cxn modelId="{E59EE71F-035B-42B6-B4D7-82FBC1C07EF6}" type="presParOf" srcId="{1F682BB5-0A70-4B27-B7FA-C6362E68F486}" destId="{BE1A7C4F-93AC-462D-9E6A-16D5E296F0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CB88C9-AF94-41C3-A41B-A2352DC7DB44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791091E-447A-416C-AC0E-E405289883BF}">
      <dgm:prSet/>
      <dgm:spPr/>
      <dgm:t>
        <a:bodyPr/>
        <a:lstStyle/>
        <a:p>
          <a:r>
            <a:rPr lang="en-US"/>
            <a:t>Forecast</a:t>
          </a:r>
        </a:p>
      </dgm:t>
    </dgm:pt>
    <dgm:pt modelId="{87A990FD-AC3D-47CE-BA7E-BA73CD4D6BF9}" type="parTrans" cxnId="{3E0F1A13-EAF6-4D92-AF43-9D60F30A9130}">
      <dgm:prSet/>
      <dgm:spPr/>
      <dgm:t>
        <a:bodyPr/>
        <a:lstStyle/>
        <a:p>
          <a:endParaRPr lang="en-US"/>
        </a:p>
      </dgm:t>
    </dgm:pt>
    <dgm:pt modelId="{25ABB518-0E19-4D84-BDB4-FE81FA28B541}" type="sibTrans" cxnId="{3E0F1A13-EAF6-4D92-AF43-9D60F30A9130}">
      <dgm:prSet/>
      <dgm:spPr/>
      <dgm:t>
        <a:bodyPr/>
        <a:lstStyle/>
        <a:p>
          <a:endParaRPr lang="en-US"/>
        </a:p>
      </dgm:t>
    </dgm:pt>
    <dgm:pt modelId="{34FD9BFA-B787-458E-AD02-C633DF5EFE18}">
      <dgm:prSet/>
      <dgm:spPr/>
      <dgm:t>
        <a:bodyPr/>
        <a:lstStyle/>
        <a:p>
          <a:r>
            <a:rPr lang="en-US"/>
            <a:t>Forecast Hospital Trends:</a:t>
          </a:r>
          <a:br>
            <a:rPr lang="en-US"/>
          </a:br>
          <a:r>
            <a:rPr lang="en-US"/>
            <a:t> Use machine learning to predict revenue, staffing, and performance by ownership type and region.</a:t>
          </a:r>
        </a:p>
      </dgm:t>
    </dgm:pt>
    <dgm:pt modelId="{86B37849-0802-405B-A1E6-1D7021A0F238}" type="parTrans" cxnId="{9E32DF03-8414-4FDD-B242-E7CFCED977DC}">
      <dgm:prSet/>
      <dgm:spPr/>
      <dgm:t>
        <a:bodyPr/>
        <a:lstStyle/>
        <a:p>
          <a:endParaRPr lang="en-US"/>
        </a:p>
      </dgm:t>
    </dgm:pt>
    <dgm:pt modelId="{4D962040-CE67-4B34-958B-CE613606C6DF}" type="sibTrans" cxnId="{9E32DF03-8414-4FDD-B242-E7CFCED977DC}">
      <dgm:prSet/>
      <dgm:spPr/>
      <dgm:t>
        <a:bodyPr/>
        <a:lstStyle/>
        <a:p>
          <a:endParaRPr lang="en-US"/>
        </a:p>
      </dgm:t>
    </dgm:pt>
    <dgm:pt modelId="{7A180E2D-DDA4-4783-B93E-B4CB7420537A}">
      <dgm:prSet/>
      <dgm:spPr/>
      <dgm:t>
        <a:bodyPr/>
        <a:lstStyle/>
        <a:p>
          <a:r>
            <a:rPr lang="en-US"/>
            <a:t>Build</a:t>
          </a:r>
        </a:p>
      </dgm:t>
    </dgm:pt>
    <dgm:pt modelId="{929BDF19-8019-48D8-BC86-B17501B3C493}" type="parTrans" cxnId="{2C3F742A-34F4-4CA9-9AAC-933F5BAAC556}">
      <dgm:prSet/>
      <dgm:spPr/>
      <dgm:t>
        <a:bodyPr/>
        <a:lstStyle/>
        <a:p>
          <a:endParaRPr lang="en-US"/>
        </a:p>
      </dgm:t>
    </dgm:pt>
    <dgm:pt modelId="{21A35961-9389-4E7B-B651-D1D0D67AB914}" type="sibTrans" cxnId="{2C3F742A-34F4-4CA9-9AAC-933F5BAAC556}">
      <dgm:prSet/>
      <dgm:spPr/>
      <dgm:t>
        <a:bodyPr/>
        <a:lstStyle/>
        <a:p>
          <a:endParaRPr lang="en-US"/>
        </a:p>
      </dgm:t>
    </dgm:pt>
    <dgm:pt modelId="{779F605E-E024-4C79-A9B0-7F042E1F414D}">
      <dgm:prSet/>
      <dgm:spPr/>
      <dgm:t>
        <a:bodyPr/>
        <a:lstStyle/>
        <a:p>
          <a:r>
            <a:rPr lang="en-US"/>
            <a:t>Custom Dashboards for Facilities:</a:t>
          </a:r>
          <a:br>
            <a:rPr lang="en-US"/>
          </a:br>
          <a:r>
            <a:rPr lang="en-US"/>
            <a:t> Build drilldown dashboards for individual hospitals to support daily decision-making.</a:t>
          </a:r>
        </a:p>
      </dgm:t>
    </dgm:pt>
    <dgm:pt modelId="{E6AC6527-7C94-40B8-A924-6134A7329849}" type="parTrans" cxnId="{241EF254-0106-4F33-81C3-17E81F3ACF06}">
      <dgm:prSet/>
      <dgm:spPr/>
      <dgm:t>
        <a:bodyPr/>
        <a:lstStyle/>
        <a:p>
          <a:endParaRPr lang="en-US"/>
        </a:p>
      </dgm:t>
    </dgm:pt>
    <dgm:pt modelId="{F8DA1E4B-569A-425C-995E-F52FB87A5B85}" type="sibTrans" cxnId="{241EF254-0106-4F33-81C3-17E81F3ACF06}">
      <dgm:prSet/>
      <dgm:spPr/>
      <dgm:t>
        <a:bodyPr/>
        <a:lstStyle/>
        <a:p>
          <a:endParaRPr lang="en-US"/>
        </a:p>
      </dgm:t>
    </dgm:pt>
    <dgm:pt modelId="{E05C0698-F45F-4A71-B827-F54DAC239899}">
      <dgm:prSet/>
      <dgm:spPr/>
      <dgm:t>
        <a:bodyPr/>
        <a:lstStyle/>
        <a:p>
          <a:r>
            <a:rPr lang="en-US"/>
            <a:t>Monitor</a:t>
          </a:r>
        </a:p>
      </dgm:t>
    </dgm:pt>
    <dgm:pt modelId="{34BD99D3-AE96-4841-90B3-2A300B568397}" type="parTrans" cxnId="{A1E4BB8B-65FB-49E1-980B-17F5ED566CFB}">
      <dgm:prSet/>
      <dgm:spPr/>
      <dgm:t>
        <a:bodyPr/>
        <a:lstStyle/>
        <a:p>
          <a:endParaRPr lang="en-US"/>
        </a:p>
      </dgm:t>
    </dgm:pt>
    <dgm:pt modelId="{AF2D4CE2-927C-4152-B3AE-39CCB636470F}" type="sibTrans" cxnId="{A1E4BB8B-65FB-49E1-980B-17F5ED566CFB}">
      <dgm:prSet/>
      <dgm:spPr/>
      <dgm:t>
        <a:bodyPr/>
        <a:lstStyle/>
        <a:p>
          <a:endParaRPr lang="en-US"/>
        </a:p>
      </dgm:t>
    </dgm:pt>
    <dgm:pt modelId="{489733C9-C77C-4106-AAA0-DE615D7B6FC7}">
      <dgm:prSet/>
      <dgm:spPr/>
      <dgm:t>
        <a:bodyPr/>
        <a:lstStyle/>
        <a:p>
          <a:r>
            <a:rPr lang="en-US"/>
            <a:t>Post-COVID Recovery Tracking:</a:t>
          </a:r>
          <a:br>
            <a:rPr lang="en-US"/>
          </a:br>
          <a:r>
            <a:rPr lang="en-US"/>
            <a:t> Monitor 2023+ trends in admissions, revenue, and occupancy to assess system recovery.</a:t>
          </a:r>
        </a:p>
      </dgm:t>
    </dgm:pt>
    <dgm:pt modelId="{2D394A7D-B20D-4746-B5F2-37526C3C5A1C}" type="parTrans" cxnId="{F38B6C85-A4F1-4223-8062-A8D7C1EF8316}">
      <dgm:prSet/>
      <dgm:spPr/>
      <dgm:t>
        <a:bodyPr/>
        <a:lstStyle/>
        <a:p>
          <a:endParaRPr lang="en-US"/>
        </a:p>
      </dgm:t>
    </dgm:pt>
    <dgm:pt modelId="{A387F993-8A09-4A62-81E8-A04CB001CEDE}" type="sibTrans" cxnId="{F38B6C85-A4F1-4223-8062-A8D7C1EF8316}">
      <dgm:prSet/>
      <dgm:spPr/>
      <dgm:t>
        <a:bodyPr/>
        <a:lstStyle/>
        <a:p>
          <a:endParaRPr lang="en-US"/>
        </a:p>
      </dgm:t>
    </dgm:pt>
    <dgm:pt modelId="{B115AF56-3A6C-495C-879F-E143F9C32E2B}">
      <dgm:prSet/>
      <dgm:spPr/>
      <dgm:t>
        <a:bodyPr/>
        <a:lstStyle/>
        <a:p>
          <a:r>
            <a:rPr lang="en-US"/>
            <a:t>Enhance</a:t>
          </a:r>
        </a:p>
      </dgm:t>
    </dgm:pt>
    <dgm:pt modelId="{DD07DAFB-5584-4EAE-BFEE-ECC2C254424D}" type="parTrans" cxnId="{8164D77C-3CBB-494E-8515-E508F3DD511B}">
      <dgm:prSet/>
      <dgm:spPr/>
      <dgm:t>
        <a:bodyPr/>
        <a:lstStyle/>
        <a:p>
          <a:endParaRPr lang="en-US"/>
        </a:p>
      </dgm:t>
    </dgm:pt>
    <dgm:pt modelId="{C23B8452-5265-4D02-A96F-77D1A338B9BA}" type="sibTrans" cxnId="{8164D77C-3CBB-494E-8515-E508F3DD511B}">
      <dgm:prSet/>
      <dgm:spPr/>
      <dgm:t>
        <a:bodyPr/>
        <a:lstStyle/>
        <a:p>
          <a:endParaRPr lang="en-US"/>
        </a:p>
      </dgm:t>
    </dgm:pt>
    <dgm:pt modelId="{4672F295-CD30-45B8-A5C5-EA2716C9F539}">
      <dgm:prSet/>
      <dgm:spPr/>
      <dgm:t>
        <a:bodyPr/>
        <a:lstStyle/>
        <a:p>
          <a:r>
            <a:rPr lang="en-US"/>
            <a:t>Advanced Hospital Clustering:</a:t>
          </a:r>
          <a:br>
            <a:rPr lang="en-US"/>
          </a:br>
          <a:r>
            <a:rPr lang="en-US"/>
            <a:t> Enhance clustering with operational metrics (e.g., staff-to-bed ratio, discharge efficiency) for benchmarking.</a:t>
          </a:r>
        </a:p>
      </dgm:t>
    </dgm:pt>
    <dgm:pt modelId="{534B4339-C2B1-4E7B-8248-F994500EACC5}" type="parTrans" cxnId="{C7FD278A-C666-499D-8812-04D3E36A00DD}">
      <dgm:prSet/>
      <dgm:spPr/>
      <dgm:t>
        <a:bodyPr/>
        <a:lstStyle/>
        <a:p>
          <a:endParaRPr lang="en-US"/>
        </a:p>
      </dgm:t>
    </dgm:pt>
    <dgm:pt modelId="{4C51D565-0D9B-4115-89B3-896C19638043}" type="sibTrans" cxnId="{C7FD278A-C666-499D-8812-04D3E36A00DD}">
      <dgm:prSet/>
      <dgm:spPr/>
      <dgm:t>
        <a:bodyPr/>
        <a:lstStyle/>
        <a:p>
          <a:endParaRPr lang="en-US"/>
        </a:p>
      </dgm:t>
    </dgm:pt>
    <dgm:pt modelId="{659B560D-D171-4AB5-A740-0B7C0B552E6A}">
      <dgm:prSet/>
      <dgm:spPr/>
      <dgm:t>
        <a:bodyPr/>
        <a:lstStyle/>
        <a:p>
          <a:r>
            <a:rPr lang="en-US"/>
            <a:t>Develop</a:t>
          </a:r>
        </a:p>
      </dgm:t>
    </dgm:pt>
    <dgm:pt modelId="{36325D60-5638-4EEC-882C-519E4328C1EB}" type="parTrans" cxnId="{2169D1C9-3B48-488E-A81B-E5524CDDFBBC}">
      <dgm:prSet/>
      <dgm:spPr/>
      <dgm:t>
        <a:bodyPr/>
        <a:lstStyle/>
        <a:p>
          <a:endParaRPr lang="en-US"/>
        </a:p>
      </dgm:t>
    </dgm:pt>
    <dgm:pt modelId="{D97C64AF-0499-49AA-8101-55CD38B48DED}" type="sibTrans" cxnId="{2169D1C9-3B48-488E-A81B-E5524CDDFBBC}">
      <dgm:prSet/>
      <dgm:spPr/>
      <dgm:t>
        <a:bodyPr/>
        <a:lstStyle/>
        <a:p>
          <a:endParaRPr lang="en-US"/>
        </a:p>
      </dgm:t>
    </dgm:pt>
    <dgm:pt modelId="{8E3E0314-D778-4770-9344-DE7AC6BAB369}">
      <dgm:prSet/>
      <dgm:spPr/>
      <dgm:t>
        <a:bodyPr/>
        <a:lstStyle/>
        <a:p>
          <a:r>
            <a:rPr lang="en-US"/>
            <a:t>Policy Impact Simulations:</a:t>
          </a:r>
          <a:br>
            <a:rPr lang="en-US"/>
          </a:br>
          <a:r>
            <a:rPr lang="en-US"/>
            <a:t> Develop tools to estimate how policy shifts (e.g., Medicaid changes) affect financial outcomes.</a:t>
          </a:r>
        </a:p>
      </dgm:t>
    </dgm:pt>
    <dgm:pt modelId="{0A57A6DB-74F0-44EE-9870-265601FB8AE5}" type="parTrans" cxnId="{89D02A61-B098-4388-8D38-3CDF5EE28244}">
      <dgm:prSet/>
      <dgm:spPr/>
      <dgm:t>
        <a:bodyPr/>
        <a:lstStyle/>
        <a:p>
          <a:endParaRPr lang="en-US"/>
        </a:p>
      </dgm:t>
    </dgm:pt>
    <dgm:pt modelId="{D1E8B042-30FE-4532-9A5E-D0E892BBB934}" type="sibTrans" cxnId="{89D02A61-B098-4388-8D38-3CDF5EE28244}">
      <dgm:prSet/>
      <dgm:spPr/>
      <dgm:t>
        <a:bodyPr/>
        <a:lstStyle/>
        <a:p>
          <a:endParaRPr lang="en-US"/>
        </a:p>
      </dgm:t>
    </dgm:pt>
    <dgm:pt modelId="{E06856A0-3AFF-43B6-BADC-223B9272181F}" type="pres">
      <dgm:prSet presAssocID="{2BCB88C9-AF94-41C3-A41B-A2352DC7DB44}" presName="Name0" presStyleCnt="0">
        <dgm:presLayoutVars>
          <dgm:dir/>
          <dgm:animLvl val="lvl"/>
          <dgm:resizeHandles val="exact"/>
        </dgm:presLayoutVars>
      </dgm:prSet>
      <dgm:spPr/>
    </dgm:pt>
    <dgm:pt modelId="{4FE6DE7F-662C-4525-9963-EF8A03567BD5}" type="pres">
      <dgm:prSet presAssocID="{E791091E-447A-416C-AC0E-E405289883BF}" presName="linNode" presStyleCnt="0"/>
      <dgm:spPr/>
    </dgm:pt>
    <dgm:pt modelId="{28559B22-A333-4CD5-AD98-9B0043D3F737}" type="pres">
      <dgm:prSet presAssocID="{E791091E-447A-416C-AC0E-E405289883BF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D34F199D-1D91-4E3F-8B00-C7FAE1035BC7}" type="pres">
      <dgm:prSet presAssocID="{E791091E-447A-416C-AC0E-E405289883BF}" presName="descendantText" presStyleLbl="alignAccFollowNode1" presStyleIdx="0" presStyleCnt="5">
        <dgm:presLayoutVars>
          <dgm:bulletEnabled/>
        </dgm:presLayoutVars>
      </dgm:prSet>
      <dgm:spPr/>
    </dgm:pt>
    <dgm:pt modelId="{8BB48FE3-72E5-4E52-9835-258E486445AD}" type="pres">
      <dgm:prSet presAssocID="{25ABB518-0E19-4D84-BDB4-FE81FA28B541}" presName="sp" presStyleCnt="0"/>
      <dgm:spPr/>
    </dgm:pt>
    <dgm:pt modelId="{3E9E2C8E-CAE9-4C2E-B84A-4F9269EEEB45}" type="pres">
      <dgm:prSet presAssocID="{7A180E2D-DDA4-4783-B93E-B4CB7420537A}" presName="linNode" presStyleCnt="0"/>
      <dgm:spPr/>
    </dgm:pt>
    <dgm:pt modelId="{DB2E6A93-75C7-466B-ADB0-4658430E39B5}" type="pres">
      <dgm:prSet presAssocID="{7A180E2D-DDA4-4783-B93E-B4CB7420537A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41D92471-86D9-4B82-BF2F-85A22D6D6AF2}" type="pres">
      <dgm:prSet presAssocID="{7A180E2D-DDA4-4783-B93E-B4CB7420537A}" presName="descendantText" presStyleLbl="alignAccFollowNode1" presStyleIdx="1" presStyleCnt="5">
        <dgm:presLayoutVars>
          <dgm:bulletEnabled/>
        </dgm:presLayoutVars>
      </dgm:prSet>
      <dgm:spPr/>
    </dgm:pt>
    <dgm:pt modelId="{8C25E7E7-519B-4D5C-913E-8CBB9B80B34E}" type="pres">
      <dgm:prSet presAssocID="{21A35961-9389-4E7B-B651-D1D0D67AB914}" presName="sp" presStyleCnt="0"/>
      <dgm:spPr/>
    </dgm:pt>
    <dgm:pt modelId="{99C31B6B-B70C-4BD1-96C5-1CA57D704947}" type="pres">
      <dgm:prSet presAssocID="{E05C0698-F45F-4A71-B827-F54DAC239899}" presName="linNode" presStyleCnt="0"/>
      <dgm:spPr/>
    </dgm:pt>
    <dgm:pt modelId="{8D21341E-9F44-4F91-A03D-C988C934A5C3}" type="pres">
      <dgm:prSet presAssocID="{E05C0698-F45F-4A71-B827-F54DAC239899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7E17BE9B-30A1-462A-B55E-3872AFB4AA2D}" type="pres">
      <dgm:prSet presAssocID="{E05C0698-F45F-4A71-B827-F54DAC239899}" presName="descendantText" presStyleLbl="alignAccFollowNode1" presStyleIdx="2" presStyleCnt="5">
        <dgm:presLayoutVars>
          <dgm:bulletEnabled/>
        </dgm:presLayoutVars>
      </dgm:prSet>
      <dgm:spPr/>
    </dgm:pt>
    <dgm:pt modelId="{C556AE9D-3E7E-477E-8032-B0961137B4A5}" type="pres">
      <dgm:prSet presAssocID="{AF2D4CE2-927C-4152-B3AE-39CCB636470F}" presName="sp" presStyleCnt="0"/>
      <dgm:spPr/>
    </dgm:pt>
    <dgm:pt modelId="{32A1B3C2-1F9E-432D-A4E7-82133421E1BD}" type="pres">
      <dgm:prSet presAssocID="{B115AF56-3A6C-495C-879F-E143F9C32E2B}" presName="linNode" presStyleCnt="0"/>
      <dgm:spPr/>
    </dgm:pt>
    <dgm:pt modelId="{8EF35028-F74C-460E-AFA5-8D87FE68F26E}" type="pres">
      <dgm:prSet presAssocID="{B115AF56-3A6C-495C-879F-E143F9C32E2B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D1610347-AD4D-47FA-AFF3-CCC6678875E6}" type="pres">
      <dgm:prSet presAssocID="{B115AF56-3A6C-495C-879F-E143F9C32E2B}" presName="descendantText" presStyleLbl="alignAccFollowNode1" presStyleIdx="3" presStyleCnt="5">
        <dgm:presLayoutVars>
          <dgm:bulletEnabled/>
        </dgm:presLayoutVars>
      </dgm:prSet>
      <dgm:spPr/>
    </dgm:pt>
    <dgm:pt modelId="{24975318-14C1-4693-AA56-9626544AF2CB}" type="pres">
      <dgm:prSet presAssocID="{C23B8452-5265-4D02-A96F-77D1A338B9BA}" presName="sp" presStyleCnt="0"/>
      <dgm:spPr/>
    </dgm:pt>
    <dgm:pt modelId="{491F5442-95BB-41A6-80C4-F678EB561576}" type="pres">
      <dgm:prSet presAssocID="{659B560D-D171-4AB5-A740-0B7C0B552E6A}" presName="linNode" presStyleCnt="0"/>
      <dgm:spPr/>
    </dgm:pt>
    <dgm:pt modelId="{F27A52BB-9D5C-45D3-A0CB-2C2A8DFD5E09}" type="pres">
      <dgm:prSet presAssocID="{659B560D-D171-4AB5-A740-0B7C0B552E6A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4CE2EFBB-622D-4E0B-9745-BEC9AD655FE6}" type="pres">
      <dgm:prSet presAssocID="{659B560D-D171-4AB5-A740-0B7C0B552E6A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9E32DF03-8414-4FDD-B242-E7CFCED977DC}" srcId="{E791091E-447A-416C-AC0E-E405289883BF}" destId="{34FD9BFA-B787-458E-AD02-C633DF5EFE18}" srcOrd="0" destOrd="0" parTransId="{86B37849-0802-405B-A1E6-1D7021A0F238}" sibTransId="{4D962040-CE67-4B34-958B-CE613606C6DF}"/>
    <dgm:cxn modelId="{31BBC70E-B586-4467-8A5B-71B77B2279EB}" type="presOf" srcId="{659B560D-D171-4AB5-A740-0B7C0B552E6A}" destId="{F27A52BB-9D5C-45D3-A0CB-2C2A8DFD5E09}" srcOrd="0" destOrd="0" presId="urn:microsoft.com/office/officeart/2016/7/layout/VerticalSolidActionList"/>
    <dgm:cxn modelId="{3E0F1A13-EAF6-4D92-AF43-9D60F30A9130}" srcId="{2BCB88C9-AF94-41C3-A41B-A2352DC7DB44}" destId="{E791091E-447A-416C-AC0E-E405289883BF}" srcOrd="0" destOrd="0" parTransId="{87A990FD-AC3D-47CE-BA7E-BA73CD4D6BF9}" sibTransId="{25ABB518-0E19-4D84-BDB4-FE81FA28B541}"/>
    <dgm:cxn modelId="{9A999D20-8317-4832-BC7E-B62C1F0C5BE4}" type="presOf" srcId="{489733C9-C77C-4106-AAA0-DE615D7B6FC7}" destId="{7E17BE9B-30A1-462A-B55E-3872AFB4AA2D}" srcOrd="0" destOrd="0" presId="urn:microsoft.com/office/officeart/2016/7/layout/VerticalSolidActionList"/>
    <dgm:cxn modelId="{2C3F742A-34F4-4CA9-9AAC-933F5BAAC556}" srcId="{2BCB88C9-AF94-41C3-A41B-A2352DC7DB44}" destId="{7A180E2D-DDA4-4783-B93E-B4CB7420537A}" srcOrd="1" destOrd="0" parTransId="{929BDF19-8019-48D8-BC86-B17501B3C493}" sibTransId="{21A35961-9389-4E7B-B651-D1D0D67AB914}"/>
    <dgm:cxn modelId="{B55C3536-3DC7-4193-B110-E788C290D9F0}" type="presOf" srcId="{8E3E0314-D778-4770-9344-DE7AC6BAB369}" destId="{4CE2EFBB-622D-4E0B-9745-BEC9AD655FE6}" srcOrd="0" destOrd="0" presId="urn:microsoft.com/office/officeart/2016/7/layout/VerticalSolidActionList"/>
    <dgm:cxn modelId="{6886BF39-E61E-4CDF-A8EF-2BC03F4EF2D7}" type="presOf" srcId="{E05C0698-F45F-4A71-B827-F54DAC239899}" destId="{8D21341E-9F44-4F91-A03D-C988C934A5C3}" srcOrd="0" destOrd="0" presId="urn:microsoft.com/office/officeart/2016/7/layout/VerticalSolidActionList"/>
    <dgm:cxn modelId="{89D02A61-B098-4388-8D38-3CDF5EE28244}" srcId="{659B560D-D171-4AB5-A740-0B7C0B552E6A}" destId="{8E3E0314-D778-4770-9344-DE7AC6BAB369}" srcOrd="0" destOrd="0" parTransId="{0A57A6DB-74F0-44EE-9870-265601FB8AE5}" sibTransId="{D1E8B042-30FE-4532-9A5E-D0E892BBB934}"/>
    <dgm:cxn modelId="{8B3C736C-88DD-48AC-8014-567A48572805}" type="presOf" srcId="{34FD9BFA-B787-458E-AD02-C633DF5EFE18}" destId="{D34F199D-1D91-4E3F-8B00-C7FAE1035BC7}" srcOrd="0" destOrd="0" presId="urn:microsoft.com/office/officeart/2016/7/layout/VerticalSolidActionList"/>
    <dgm:cxn modelId="{241EF254-0106-4F33-81C3-17E81F3ACF06}" srcId="{7A180E2D-DDA4-4783-B93E-B4CB7420537A}" destId="{779F605E-E024-4C79-A9B0-7F042E1F414D}" srcOrd="0" destOrd="0" parTransId="{E6AC6527-7C94-40B8-A924-6134A7329849}" sibTransId="{F8DA1E4B-569A-425C-995E-F52FB87A5B85}"/>
    <dgm:cxn modelId="{5C957A75-8F4D-4FF0-9FB1-A142CA4EEE13}" type="presOf" srcId="{B115AF56-3A6C-495C-879F-E143F9C32E2B}" destId="{8EF35028-F74C-460E-AFA5-8D87FE68F26E}" srcOrd="0" destOrd="0" presId="urn:microsoft.com/office/officeart/2016/7/layout/VerticalSolidActionList"/>
    <dgm:cxn modelId="{8164D77C-3CBB-494E-8515-E508F3DD511B}" srcId="{2BCB88C9-AF94-41C3-A41B-A2352DC7DB44}" destId="{B115AF56-3A6C-495C-879F-E143F9C32E2B}" srcOrd="3" destOrd="0" parTransId="{DD07DAFB-5584-4EAE-BFEE-ECC2C254424D}" sibTransId="{C23B8452-5265-4D02-A96F-77D1A338B9BA}"/>
    <dgm:cxn modelId="{252B6B81-DCBF-426B-9B56-E0287A4C9126}" type="presOf" srcId="{7A180E2D-DDA4-4783-B93E-B4CB7420537A}" destId="{DB2E6A93-75C7-466B-ADB0-4658430E39B5}" srcOrd="0" destOrd="0" presId="urn:microsoft.com/office/officeart/2016/7/layout/VerticalSolidActionList"/>
    <dgm:cxn modelId="{F38B6C85-A4F1-4223-8062-A8D7C1EF8316}" srcId="{E05C0698-F45F-4A71-B827-F54DAC239899}" destId="{489733C9-C77C-4106-AAA0-DE615D7B6FC7}" srcOrd="0" destOrd="0" parTransId="{2D394A7D-B20D-4746-B5F2-37526C3C5A1C}" sibTransId="{A387F993-8A09-4A62-81E8-A04CB001CEDE}"/>
    <dgm:cxn modelId="{C7FD278A-C666-499D-8812-04D3E36A00DD}" srcId="{B115AF56-3A6C-495C-879F-E143F9C32E2B}" destId="{4672F295-CD30-45B8-A5C5-EA2716C9F539}" srcOrd="0" destOrd="0" parTransId="{534B4339-C2B1-4E7B-8248-F994500EACC5}" sibTransId="{4C51D565-0D9B-4115-89B3-896C19638043}"/>
    <dgm:cxn modelId="{A1E4BB8B-65FB-49E1-980B-17F5ED566CFB}" srcId="{2BCB88C9-AF94-41C3-A41B-A2352DC7DB44}" destId="{E05C0698-F45F-4A71-B827-F54DAC239899}" srcOrd="2" destOrd="0" parTransId="{34BD99D3-AE96-4841-90B3-2A300B568397}" sibTransId="{AF2D4CE2-927C-4152-B3AE-39CCB636470F}"/>
    <dgm:cxn modelId="{49E0D691-9D15-49A5-B756-575C6247B73F}" type="presOf" srcId="{779F605E-E024-4C79-A9B0-7F042E1F414D}" destId="{41D92471-86D9-4B82-BF2F-85A22D6D6AF2}" srcOrd="0" destOrd="0" presId="urn:microsoft.com/office/officeart/2016/7/layout/VerticalSolidActionList"/>
    <dgm:cxn modelId="{4231B1C2-44FA-4973-A821-247570DE0C03}" type="presOf" srcId="{4672F295-CD30-45B8-A5C5-EA2716C9F539}" destId="{D1610347-AD4D-47FA-AFF3-CCC6678875E6}" srcOrd="0" destOrd="0" presId="urn:microsoft.com/office/officeart/2016/7/layout/VerticalSolidActionList"/>
    <dgm:cxn modelId="{B3A934C4-7B5F-4211-B887-2DB5707DB2FB}" type="presOf" srcId="{E791091E-447A-416C-AC0E-E405289883BF}" destId="{28559B22-A333-4CD5-AD98-9B0043D3F737}" srcOrd="0" destOrd="0" presId="urn:microsoft.com/office/officeart/2016/7/layout/VerticalSolidActionList"/>
    <dgm:cxn modelId="{2169D1C9-3B48-488E-A81B-E5524CDDFBBC}" srcId="{2BCB88C9-AF94-41C3-A41B-A2352DC7DB44}" destId="{659B560D-D171-4AB5-A740-0B7C0B552E6A}" srcOrd="4" destOrd="0" parTransId="{36325D60-5638-4EEC-882C-519E4328C1EB}" sibTransId="{D97C64AF-0499-49AA-8101-55CD38B48DED}"/>
    <dgm:cxn modelId="{ECA0B7CD-874B-435D-B39A-DA93E21D563A}" type="presOf" srcId="{2BCB88C9-AF94-41C3-A41B-A2352DC7DB44}" destId="{E06856A0-3AFF-43B6-BADC-223B9272181F}" srcOrd="0" destOrd="0" presId="urn:microsoft.com/office/officeart/2016/7/layout/VerticalSolidActionList"/>
    <dgm:cxn modelId="{9587E96D-68A9-4772-A7FD-40DEA844EBB4}" type="presParOf" srcId="{E06856A0-3AFF-43B6-BADC-223B9272181F}" destId="{4FE6DE7F-662C-4525-9963-EF8A03567BD5}" srcOrd="0" destOrd="0" presId="urn:microsoft.com/office/officeart/2016/7/layout/VerticalSolidActionList"/>
    <dgm:cxn modelId="{A1C9C6A2-19E6-48F2-990C-31E5ED7865C9}" type="presParOf" srcId="{4FE6DE7F-662C-4525-9963-EF8A03567BD5}" destId="{28559B22-A333-4CD5-AD98-9B0043D3F737}" srcOrd="0" destOrd="0" presId="urn:microsoft.com/office/officeart/2016/7/layout/VerticalSolidActionList"/>
    <dgm:cxn modelId="{3741343C-2506-467D-B45B-26212FAE1DEC}" type="presParOf" srcId="{4FE6DE7F-662C-4525-9963-EF8A03567BD5}" destId="{D34F199D-1D91-4E3F-8B00-C7FAE1035BC7}" srcOrd="1" destOrd="0" presId="urn:microsoft.com/office/officeart/2016/7/layout/VerticalSolidActionList"/>
    <dgm:cxn modelId="{59D666CF-929F-4075-BFDF-E039D3F15989}" type="presParOf" srcId="{E06856A0-3AFF-43B6-BADC-223B9272181F}" destId="{8BB48FE3-72E5-4E52-9835-258E486445AD}" srcOrd="1" destOrd="0" presId="urn:microsoft.com/office/officeart/2016/7/layout/VerticalSolidActionList"/>
    <dgm:cxn modelId="{9BE74D20-A619-415C-B902-595653869D1B}" type="presParOf" srcId="{E06856A0-3AFF-43B6-BADC-223B9272181F}" destId="{3E9E2C8E-CAE9-4C2E-B84A-4F9269EEEB45}" srcOrd="2" destOrd="0" presId="urn:microsoft.com/office/officeart/2016/7/layout/VerticalSolidActionList"/>
    <dgm:cxn modelId="{1E702F96-F0CC-470F-80C3-3623B903BAF9}" type="presParOf" srcId="{3E9E2C8E-CAE9-4C2E-B84A-4F9269EEEB45}" destId="{DB2E6A93-75C7-466B-ADB0-4658430E39B5}" srcOrd="0" destOrd="0" presId="urn:microsoft.com/office/officeart/2016/7/layout/VerticalSolidActionList"/>
    <dgm:cxn modelId="{CF271AAC-BE91-4D8F-8D22-5CA625BA2B54}" type="presParOf" srcId="{3E9E2C8E-CAE9-4C2E-B84A-4F9269EEEB45}" destId="{41D92471-86D9-4B82-BF2F-85A22D6D6AF2}" srcOrd="1" destOrd="0" presId="urn:microsoft.com/office/officeart/2016/7/layout/VerticalSolidActionList"/>
    <dgm:cxn modelId="{512F5691-2A3C-4C3D-8E26-A5C8EF2A3BBD}" type="presParOf" srcId="{E06856A0-3AFF-43B6-BADC-223B9272181F}" destId="{8C25E7E7-519B-4D5C-913E-8CBB9B80B34E}" srcOrd="3" destOrd="0" presId="urn:microsoft.com/office/officeart/2016/7/layout/VerticalSolidActionList"/>
    <dgm:cxn modelId="{04537CC1-AC1D-4E28-BE5A-4EB240ECFD8C}" type="presParOf" srcId="{E06856A0-3AFF-43B6-BADC-223B9272181F}" destId="{99C31B6B-B70C-4BD1-96C5-1CA57D704947}" srcOrd="4" destOrd="0" presId="urn:microsoft.com/office/officeart/2016/7/layout/VerticalSolidActionList"/>
    <dgm:cxn modelId="{73ADA3EA-6409-40AE-9264-31630A58E552}" type="presParOf" srcId="{99C31B6B-B70C-4BD1-96C5-1CA57D704947}" destId="{8D21341E-9F44-4F91-A03D-C988C934A5C3}" srcOrd="0" destOrd="0" presId="urn:microsoft.com/office/officeart/2016/7/layout/VerticalSolidActionList"/>
    <dgm:cxn modelId="{BA51447E-CFF4-492A-B604-B66538874E91}" type="presParOf" srcId="{99C31B6B-B70C-4BD1-96C5-1CA57D704947}" destId="{7E17BE9B-30A1-462A-B55E-3872AFB4AA2D}" srcOrd="1" destOrd="0" presId="urn:microsoft.com/office/officeart/2016/7/layout/VerticalSolidActionList"/>
    <dgm:cxn modelId="{BA7F75DF-D369-49DC-A43B-75A65ABCBF26}" type="presParOf" srcId="{E06856A0-3AFF-43B6-BADC-223B9272181F}" destId="{C556AE9D-3E7E-477E-8032-B0961137B4A5}" srcOrd="5" destOrd="0" presId="urn:microsoft.com/office/officeart/2016/7/layout/VerticalSolidActionList"/>
    <dgm:cxn modelId="{3B9567ED-B1EB-4621-ACE6-8E3184A97CE2}" type="presParOf" srcId="{E06856A0-3AFF-43B6-BADC-223B9272181F}" destId="{32A1B3C2-1F9E-432D-A4E7-82133421E1BD}" srcOrd="6" destOrd="0" presId="urn:microsoft.com/office/officeart/2016/7/layout/VerticalSolidActionList"/>
    <dgm:cxn modelId="{F888A852-41F8-482F-8AFA-57B11F556A3E}" type="presParOf" srcId="{32A1B3C2-1F9E-432D-A4E7-82133421E1BD}" destId="{8EF35028-F74C-460E-AFA5-8D87FE68F26E}" srcOrd="0" destOrd="0" presId="urn:microsoft.com/office/officeart/2016/7/layout/VerticalSolidActionList"/>
    <dgm:cxn modelId="{548F637E-5B0D-4C28-87F3-9AFFDFE63210}" type="presParOf" srcId="{32A1B3C2-1F9E-432D-A4E7-82133421E1BD}" destId="{D1610347-AD4D-47FA-AFF3-CCC6678875E6}" srcOrd="1" destOrd="0" presId="urn:microsoft.com/office/officeart/2016/7/layout/VerticalSolidActionList"/>
    <dgm:cxn modelId="{13C09DC1-9FBF-440D-A325-68BF65E31B17}" type="presParOf" srcId="{E06856A0-3AFF-43B6-BADC-223B9272181F}" destId="{24975318-14C1-4693-AA56-9626544AF2CB}" srcOrd="7" destOrd="0" presId="urn:microsoft.com/office/officeart/2016/7/layout/VerticalSolidActionList"/>
    <dgm:cxn modelId="{F85E265F-1A26-491B-8C7D-9E6200221052}" type="presParOf" srcId="{E06856A0-3AFF-43B6-BADC-223B9272181F}" destId="{491F5442-95BB-41A6-80C4-F678EB561576}" srcOrd="8" destOrd="0" presId="urn:microsoft.com/office/officeart/2016/7/layout/VerticalSolidActionList"/>
    <dgm:cxn modelId="{47CB8E57-0A5E-4B25-85DD-588C4E623B01}" type="presParOf" srcId="{491F5442-95BB-41A6-80C4-F678EB561576}" destId="{F27A52BB-9D5C-45D3-A0CB-2C2A8DFD5E09}" srcOrd="0" destOrd="0" presId="urn:microsoft.com/office/officeart/2016/7/layout/VerticalSolidActionList"/>
    <dgm:cxn modelId="{4D8A730F-76A5-46CB-9F97-535D910E3FEF}" type="presParOf" srcId="{491F5442-95BB-41A6-80C4-F678EB561576}" destId="{4CE2EFBB-622D-4E0B-9745-BEC9AD655FE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19F33F-5506-4B44-A237-295756FDCE9F}">
      <dsp:nvSpPr>
        <dsp:cNvPr id="0" name=""/>
        <dsp:cNvSpPr/>
      </dsp:nvSpPr>
      <dsp:spPr>
        <a:xfrm>
          <a:off x="0" y="706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FAA2E-88D8-4204-B231-5D88813779D5}">
      <dsp:nvSpPr>
        <dsp:cNvPr id="0" name=""/>
        <dsp:cNvSpPr/>
      </dsp:nvSpPr>
      <dsp:spPr>
        <a:xfrm>
          <a:off x="179490" y="134211"/>
          <a:ext cx="326346" cy="3263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C0C33-820D-4EBB-A25E-8BAFD4663FCC}">
      <dsp:nvSpPr>
        <dsp:cNvPr id="0" name=""/>
        <dsp:cNvSpPr/>
      </dsp:nvSpPr>
      <dsp:spPr>
        <a:xfrm>
          <a:off x="685326" y="706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Introduction &amp; Problem Statement</a:t>
          </a:r>
        </a:p>
      </dsp:txBody>
      <dsp:txXfrm>
        <a:off x="685326" y="706"/>
        <a:ext cx="6264113" cy="593356"/>
      </dsp:txXfrm>
    </dsp:sp>
    <dsp:sp modelId="{BF4A252F-83D9-4F01-8286-28708B041F89}">
      <dsp:nvSpPr>
        <dsp:cNvPr id="0" name=""/>
        <dsp:cNvSpPr/>
      </dsp:nvSpPr>
      <dsp:spPr>
        <a:xfrm>
          <a:off x="0" y="742401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C1EF3-E94D-4C20-90A9-DFBC0334B71C}">
      <dsp:nvSpPr>
        <dsp:cNvPr id="0" name=""/>
        <dsp:cNvSpPr/>
      </dsp:nvSpPr>
      <dsp:spPr>
        <a:xfrm>
          <a:off x="179490" y="875907"/>
          <a:ext cx="326346" cy="3263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DDDB5-E872-4C9D-9D1F-E941BFF880A7}">
      <dsp:nvSpPr>
        <dsp:cNvPr id="0" name=""/>
        <dsp:cNvSpPr/>
      </dsp:nvSpPr>
      <dsp:spPr>
        <a:xfrm>
          <a:off x="685326" y="742401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Research Questions</a:t>
          </a:r>
        </a:p>
      </dsp:txBody>
      <dsp:txXfrm>
        <a:off x="685326" y="742401"/>
        <a:ext cx="6264113" cy="593356"/>
      </dsp:txXfrm>
    </dsp:sp>
    <dsp:sp modelId="{B941209D-8DF8-4D85-9C11-001079628504}">
      <dsp:nvSpPr>
        <dsp:cNvPr id="0" name=""/>
        <dsp:cNvSpPr/>
      </dsp:nvSpPr>
      <dsp:spPr>
        <a:xfrm>
          <a:off x="0" y="1484097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973C8-FA00-4360-8390-43C54A154ADE}">
      <dsp:nvSpPr>
        <dsp:cNvPr id="0" name=""/>
        <dsp:cNvSpPr/>
      </dsp:nvSpPr>
      <dsp:spPr>
        <a:xfrm>
          <a:off x="179490" y="1617602"/>
          <a:ext cx="326346" cy="3263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FA96-C1D7-4BDA-AB6E-0BE8DD15953D}">
      <dsp:nvSpPr>
        <dsp:cNvPr id="0" name=""/>
        <dsp:cNvSpPr/>
      </dsp:nvSpPr>
      <dsp:spPr>
        <a:xfrm>
          <a:off x="685326" y="1484097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Dataset &amp; Methodology</a:t>
          </a:r>
        </a:p>
      </dsp:txBody>
      <dsp:txXfrm>
        <a:off x="685326" y="1484097"/>
        <a:ext cx="6264113" cy="593356"/>
      </dsp:txXfrm>
    </dsp:sp>
    <dsp:sp modelId="{B37FC3ED-2B62-40E5-A441-B810A5A24E67}">
      <dsp:nvSpPr>
        <dsp:cNvPr id="0" name=""/>
        <dsp:cNvSpPr/>
      </dsp:nvSpPr>
      <dsp:spPr>
        <a:xfrm>
          <a:off x="0" y="2225793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3BE3DE-706F-4186-A815-C9B19AAA989C}">
      <dsp:nvSpPr>
        <dsp:cNvPr id="0" name=""/>
        <dsp:cNvSpPr/>
      </dsp:nvSpPr>
      <dsp:spPr>
        <a:xfrm>
          <a:off x="179490" y="2359298"/>
          <a:ext cx="326346" cy="3263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5C665-7EFF-4F59-AE74-44CB06C86AD8}">
      <dsp:nvSpPr>
        <dsp:cNvPr id="0" name=""/>
        <dsp:cNvSpPr/>
      </dsp:nvSpPr>
      <dsp:spPr>
        <a:xfrm>
          <a:off x="685326" y="2225793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Dashboard Overview</a:t>
          </a:r>
        </a:p>
      </dsp:txBody>
      <dsp:txXfrm>
        <a:off x="685326" y="2225793"/>
        <a:ext cx="6264113" cy="593356"/>
      </dsp:txXfrm>
    </dsp:sp>
    <dsp:sp modelId="{5FD10B31-70DF-43DA-990F-441A71E8660D}">
      <dsp:nvSpPr>
        <dsp:cNvPr id="0" name=""/>
        <dsp:cNvSpPr/>
      </dsp:nvSpPr>
      <dsp:spPr>
        <a:xfrm>
          <a:off x="0" y="2967488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4F7028-8970-4155-80E9-279194A96D8D}">
      <dsp:nvSpPr>
        <dsp:cNvPr id="0" name=""/>
        <dsp:cNvSpPr/>
      </dsp:nvSpPr>
      <dsp:spPr>
        <a:xfrm>
          <a:off x="179490" y="3100993"/>
          <a:ext cx="326346" cy="3263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B873B-7B9B-4BB1-9126-4C7BE6A89F29}">
      <dsp:nvSpPr>
        <dsp:cNvPr id="0" name=""/>
        <dsp:cNvSpPr/>
      </dsp:nvSpPr>
      <dsp:spPr>
        <a:xfrm>
          <a:off x="685326" y="2967488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Key Insights (Financial, Operational, Geographic)</a:t>
          </a:r>
        </a:p>
      </dsp:txBody>
      <dsp:txXfrm>
        <a:off x="685326" y="2967488"/>
        <a:ext cx="6264113" cy="593356"/>
      </dsp:txXfrm>
    </dsp:sp>
    <dsp:sp modelId="{933B84C4-32AE-44EA-914F-C2BDDDD5C456}">
      <dsp:nvSpPr>
        <dsp:cNvPr id="0" name=""/>
        <dsp:cNvSpPr/>
      </dsp:nvSpPr>
      <dsp:spPr>
        <a:xfrm>
          <a:off x="0" y="3709184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CAAC4-786E-43FF-99AB-34E025E863EE}">
      <dsp:nvSpPr>
        <dsp:cNvPr id="0" name=""/>
        <dsp:cNvSpPr/>
      </dsp:nvSpPr>
      <dsp:spPr>
        <a:xfrm>
          <a:off x="179490" y="3842689"/>
          <a:ext cx="326346" cy="32634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530F25-86C2-4536-A2BE-F99C87D00FCC}">
      <dsp:nvSpPr>
        <dsp:cNvPr id="0" name=""/>
        <dsp:cNvSpPr/>
      </dsp:nvSpPr>
      <dsp:spPr>
        <a:xfrm>
          <a:off x="685326" y="3709184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Challenges &amp; Recommendations</a:t>
          </a:r>
        </a:p>
      </dsp:txBody>
      <dsp:txXfrm>
        <a:off x="685326" y="3709184"/>
        <a:ext cx="6264113" cy="593356"/>
      </dsp:txXfrm>
    </dsp:sp>
    <dsp:sp modelId="{362DA007-6E6B-44E8-A1A3-3FAF6E810A13}">
      <dsp:nvSpPr>
        <dsp:cNvPr id="0" name=""/>
        <dsp:cNvSpPr/>
      </dsp:nvSpPr>
      <dsp:spPr>
        <a:xfrm>
          <a:off x="0" y="4450879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25B48-C991-4092-AACF-39457A801937}">
      <dsp:nvSpPr>
        <dsp:cNvPr id="0" name=""/>
        <dsp:cNvSpPr/>
      </dsp:nvSpPr>
      <dsp:spPr>
        <a:xfrm>
          <a:off x="179490" y="4584384"/>
          <a:ext cx="326346" cy="32634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08334-FE49-4CEF-BE91-2B6CB147AC28}">
      <dsp:nvSpPr>
        <dsp:cNvPr id="0" name=""/>
        <dsp:cNvSpPr/>
      </dsp:nvSpPr>
      <dsp:spPr>
        <a:xfrm>
          <a:off x="685326" y="4450879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Future Work</a:t>
          </a:r>
        </a:p>
      </dsp:txBody>
      <dsp:txXfrm>
        <a:off x="685326" y="4450879"/>
        <a:ext cx="6264113" cy="593356"/>
      </dsp:txXfrm>
    </dsp:sp>
    <dsp:sp modelId="{13F4E27B-7370-4158-BEC3-FF9A79108F4D}">
      <dsp:nvSpPr>
        <dsp:cNvPr id="0" name=""/>
        <dsp:cNvSpPr/>
      </dsp:nvSpPr>
      <dsp:spPr>
        <a:xfrm>
          <a:off x="0" y="5192575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19E78-C7E6-4F1A-A9ED-95428E7271E2}">
      <dsp:nvSpPr>
        <dsp:cNvPr id="0" name=""/>
        <dsp:cNvSpPr/>
      </dsp:nvSpPr>
      <dsp:spPr>
        <a:xfrm>
          <a:off x="179490" y="5326080"/>
          <a:ext cx="326346" cy="326346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F242F-DD5C-484C-B45A-8894E959BF55}">
      <dsp:nvSpPr>
        <dsp:cNvPr id="0" name=""/>
        <dsp:cNvSpPr/>
      </dsp:nvSpPr>
      <dsp:spPr>
        <a:xfrm>
          <a:off x="685326" y="5192575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Neue Haas Grotesk Text Pro"/>
            </a:rPr>
            <a:t>Q &amp; A</a:t>
          </a:r>
        </a:p>
      </dsp:txBody>
      <dsp:txXfrm>
        <a:off x="685326" y="5192575"/>
        <a:ext cx="6264113" cy="5933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8C533-E916-4D4D-9FCD-16F5DA255C48}">
      <dsp:nvSpPr>
        <dsp:cNvPr id="0" name=""/>
        <dsp:cNvSpPr/>
      </dsp:nvSpPr>
      <dsp:spPr>
        <a:xfrm>
          <a:off x="0" y="706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CF339-2B83-4364-A63F-0FFFB4BA8B6C}">
      <dsp:nvSpPr>
        <dsp:cNvPr id="0" name=""/>
        <dsp:cNvSpPr/>
      </dsp:nvSpPr>
      <dsp:spPr>
        <a:xfrm>
          <a:off x="0" y="706"/>
          <a:ext cx="6949440" cy="1157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Total hospital revenue steadily increased from 2011 to 2022.</a:t>
          </a:r>
        </a:p>
      </dsp:txBody>
      <dsp:txXfrm>
        <a:off x="0" y="706"/>
        <a:ext cx="6949440" cy="1157044"/>
      </dsp:txXfrm>
    </dsp:sp>
    <dsp:sp modelId="{918428C9-D4F4-4DCD-96F0-D1ABA60C479D}">
      <dsp:nvSpPr>
        <dsp:cNvPr id="0" name=""/>
        <dsp:cNvSpPr/>
      </dsp:nvSpPr>
      <dsp:spPr>
        <a:xfrm>
          <a:off x="0" y="1157751"/>
          <a:ext cx="6949440" cy="0"/>
        </a:xfrm>
        <a:prstGeom prst="line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accent2">
              <a:hueOff val="-260332"/>
              <a:satOff val="-5408"/>
              <a:lumOff val="-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0B8ED-AC57-41FC-8995-D14FCAF31720}">
      <dsp:nvSpPr>
        <dsp:cNvPr id="0" name=""/>
        <dsp:cNvSpPr/>
      </dsp:nvSpPr>
      <dsp:spPr>
        <a:xfrm>
          <a:off x="0" y="1157751"/>
          <a:ext cx="6949440" cy="1157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Profit margins remain low due to consistently high expense ratios.</a:t>
          </a:r>
        </a:p>
      </dsp:txBody>
      <dsp:txXfrm>
        <a:off x="0" y="1157751"/>
        <a:ext cx="6949440" cy="1157044"/>
      </dsp:txXfrm>
    </dsp:sp>
    <dsp:sp modelId="{5B6152EB-FB57-4AF7-8412-8CF137B9F6EE}">
      <dsp:nvSpPr>
        <dsp:cNvPr id="0" name=""/>
        <dsp:cNvSpPr/>
      </dsp:nvSpPr>
      <dsp:spPr>
        <a:xfrm>
          <a:off x="0" y="2314796"/>
          <a:ext cx="6949440" cy="0"/>
        </a:xfrm>
        <a:prstGeom prst="line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6087D-5BD0-4713-A5ED-5EF405C3229C}">
      <dsp:nvSpPr>
        <dsp:cNvPr id="0" name=""/>
        <dsp:cNvSpPr/>
      </dsp:nvSpPr>
      <dsp:spPr>
        <a:xfrm>
          <a:off x="0" y="2314796"/>
          <a:ext cx="6949440" cy="1157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Occupancy rates declined around 2020 and partially recovered afterward.</a:t>
          </a:r>
        </a:p>
      </dsp:txBody>
      <dsp:txXfrm>
        <a:off x="0" y="2314796"/>
        <a:ext cx="6949440" cy="1157044"/>
      </dsp:txXfrm>
    </dsp:sp>
    <dsp:sp modelId="{6F7A9432-F68E-4C4C-978A-ACABFC5DCD43}">
      <dsp:nvSpPr>
        <dsp:cNvPr id="0" name=""/>
        <dsp:cNvSpPr/>
      </dsp:nvSpPr>
      <dsp:spPr>
        <a:xfrm>
          <a:off x="0" y="3471840"/>
          <a:ext cx="6949440" cy="0"/>
        </a:xfrm>
        <a:prstGeom prst="line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accent2">
              <a:hueOff val="-780997"/>
              <a:satOff val="-16223"/>
              <a:lumOff val="-4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17631-4211-4467-A343-B4E284A18A24}">
      <dsp:nvSpPr>
        <dsp:cNvPr id="0" name=""/>
        <dsp:cNvSpPr/>
      </dsp:nvSpPr>
      <dsp:spPr>
        <a:xfrm>
          <a:off x="0" y="3471840"/>
          <a:ext cx="6949440" cy="1157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California contributes the highest share of total hospital revenue.</a:t>
          </a:r>
        </a:p>
      </dsp:txBody>
      <dsp:txXfrm>
        <a:off x="0" y="3471840"/>
        <a:ext cx="6949440" cy="1157044"/>
      </dsp:txXfrm>
    </dsp:sp>
    <dsp:sp modelId="{B7974305-1371-4544-BA5A-F5CCFE1928D9}">
      <dsp:nvSpPr>
        <dsp:cNvPr id="0" name=""/>
        <dsp:cNvSpPr/>
      </dsp:nvSpPr>
      <dsp:spPr>
        <a:xfrm>
          <a:off x="0" y="4628885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42729-2E88-484C-8E66-F47140223E2D}">
      <dsp:nvSpPr>
        <dsp:cNvPr id="0" name=""/>
        <dsp:cNvSpPr/>
      </dsp:nvSpPr>
      <dsp:spPr>
        <a:xfrm>
          <a:off x="0" y="4628885"/>
          <a:ext cx="6949440" cy="1157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Significant differences exist in hospital performance across regions and facility types.</a:t>
          </a:r>
        </a:p>
      </dsp:txBody>
      <dsp:txXfrm>
        <a:off x="0" y="4628885"/>
        <a:ext cx="6949440" cy="11570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719B8-C0ED-4284-86AC-E755304E072E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64F62-5D9B-4992-852F-4D661125FAE3}">
      <dsp:nvSpPr>
        <dsp:cNvPr id="0" name=""/>
        <dsp:cNvSpPr/>
      </dsp:nvSpPr>
      <dsp:spPr>
        <a:xfrm>
          <a:off x="291287" y="221180"/>
          <a:ext cx="529613" cy="529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B642A-7850-427A-A735-09F1B6284C5F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Hospitals have a strong current ratio (2.75), indicating good short-term liquidity.</a:t>
          </a:r>
        </a:p>
      </dsp:txBody>
      <dsp:txXfrm>
        <a:off x="1112187" y="4520"/>
        <a:ext cx="5837252" cy="962932"/>
      </dsp:txXfrm>
    </dsp:sp>
    <dsp:sp modelId="{97EF6DEB-C734-41FD-9C97-92317A3B0E45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0DBAD-5D39-4EE1-9B9B-0239B170EFB3}">
      <dsp:nvSpPr>
        <dsp:cNvPr id="0" name=""/>
        <dsp:cNvSpPr/>
      </dsp:nvSpPr>
      <dsp:spPr>
        <a:xfrm>
          <a:off x="291287" y="1424846"/>
          <a:ext cx="529613" cy="529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AF524-1029-4568-8AA8-A24630D8293B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Profit margins remain low (3.8%) mainly due to very high expense ratios (95%).</a:t>
          </a:r>
        </a:p>
      </dsp:txBody>
      <dsp:txXfrm>
        <a:off x="1112187" y="1208186"/>
        <a:ext cx="5837252" cy="962932"/>
      </dsp:txXfrm>
    </dsp:sp>
    <dsp:sp modelId="{5788521B-B5AE-43B2-8120-5C6190EEAC09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1D367-4593-47A7-8D6A-67222AC68A04}">
      <dsp:nvSpPr>
        <dsp:cNvPr id="0" name=""/>
        <dsp:cNvSpPr/>
      </dsp:nvSpPr>
      <dsp:spPr>
        <a:xfrm>
          <a:off x="291287" y="2628512"/>
          <a:ext cx="529613" cy="529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94AFA-1B28-4FB3-826E-AEAFA8447DD6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sharp profit spike appears around 2020, followed by a decline.</a:t>
          </a:r>
        </a:p>
      </dsp:txBody>
      <dsp:txXfrm>
        <a:off x="1112187" y="2411852"/>
        <a:ext cx="5837252" cy="962932"/>
      </dsp:txXfrm>
    </dsp:sp>
    <dsp:sp modelId="{24F707C2-020E-4E00-959A-B553FF470682}">
      <dsp:nvSpPr>
        <dsp:cNvPr id="0" name=""/>
        <dsp:cNvSpPr/>
      </dsp:nvSpPr>
      <dsp:spPr>
        <a:xfrm>
          <a:off x="0" y="3615518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C4940-70A4-4BEE-9B9D-01959079790C}">
      <dsp:nvSpPr>
        <dsp:cNvPr id="0" name=""/>
        <dsp:cNvSpPr/>
      </dsp:nvSpPr>
      <dsp:spPr>
        <a:xfrm>
          <a:off x="291287" y="3832178"/>
          <a:ext cx="529613" cy="529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1A0F6-7F5B-4A03-9531-0D7A0C4DF517}">
      <dsp:nvSpPr>
        <dsp:cNvPr id="0" name=""/>
        <dsp:cNvSpPr/>
      </dsp:nvSpPr>
      <dsp:spPr>
        <a:xfrm>
          <a:off x="1112187" y="3615518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Specialty hospitals show higher profit margins compared to other facility types.</a:t>
          </a:r>
        </a:p>
      </dsp:txBody>
      <dsp:txXfrm>
        <a:off x="1112187" y="3615518"/>
        <a:ext cx="5837252" cy="962932"/>
      </dsp:txXfrm>
    </dsp:sp>
    <dsp:sp modelId="{1E4E6487-21EA-4D48-8613-32E1AE8BE9FA}">
      <dsp:nvSpPr>
        <dsp:cNvPr id="0" name=""/>
        <dsp:cNvSpPr/>
      </dsp:nvSpPr>
      <dsp:spPr>
        <a:xfrm>
          <a:off x="0" y="4819184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B0872-39A9-425B-AD3B-99A28E61A7D4}">
      <dsp:nvSpPr>
        <dsp:cNvPr id="0" name=""/>
        <dsp:cNvSpPr/>
      </dsp:nvSpPr>
      <dsp:spPr>
        <a:xfrm>
          <a:off x="291287" y="5035844"/>
          <a:ext cx="529613" cy="5296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28C7E-8E4D-4482-B372-CE6F9147BC86}">
      <dsp:nvSpPr>
        <dsp:cNvPr id="0" name=""/>
        <dsp:cNvSpPr/>
      </dsp:nvSpPr>
      <dsp:spPr>
        <a:xfrm>
          <a:off x="1112187" y="4819184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General short-term hospitals generate the highest net patient revenue.</a:t>
          </a:r>
        </a:p>
      </dsp:txBody>
      <dsp:txXfrm>
        <a:off x="1112187" y="4819184"/>
        <a:ext cx="5837252" cy="9629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544878-365D-48D6-99E6-0B87015D1364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A268F5-1E73-4D0A-A553-9569835BEA2D}">
      <dsp:nvSpPr>
        <dsp:cNvPr id="0" name=""/>
        <dsp:cNvSpPr/>
      </dsp:nvSpPr>
      <dsp:spPr>
        <a:xfrm>
          <a:off x="291287" y="221180"/>
          <a:ext cx="529612" cy="5296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F39F7-D4A4-41C6-93CF-647D5ED7B78C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Average hospital occupancy remained around </a:t>
          </a:r>
          <a:r>
            <a:rPr lang="en-US" sz="1700" b="1" kern="1200"/>
            <a:t>51%</a:t>
          </a:r>
          <a:r>
            <a:rPr lang="en-US" sz="1700" kern="1200"/>
            <a:t>, with a noticeable dip in 2020 and recovery afterward.</a:t>
          </a:r>
        </a:p>
      </dsp:txBody>
      <dsp:txXfrm>
        <a:off x="1112187" y="4520"/>
        <a:ext cx="5837252" cy="962932"/>
      </dsp:txXfrm>
    </dsp:sp>
    <dsp:sp modelId="{17602C95-E161-40C0-B8AD-4C67407454AE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9350D-DDB5-4AB4-9578-01D78B2326C9}">
      <dsp:nvSpPr>
        <dsp:cNvPr id="0" name=""/>
        <dsp:cNvSpPr/>
      </dsp:nvSpPr>
      <dsp:spPr>
        <a:xfrm>
          <a:off x="291287" y="1424846"/>
          <a:ext cx="529612" cy="5296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969EA-8944-4481-B35E-B8CA9C7D8E8D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Staffing levels vary widely, showing differences in how hospitals allocate labor resources.</a:t>
          </a:r>
        </a:p>
      </dsp:txBody>
      <dsp:txXfrm>
        <a:off x="1112187" y="1208186"/>
        <a:ext cx="5837252" cy="962932"/>
      </dsp:txXfrm>
    </dsp:sp>
    <dsp:sp modelId="{5F74AAAF-CE00-4112-8717-9417E8946E41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C5493-DF84-4641-8AC0-13F783457585}">
      <dsp:nvSpPr>
        <dsp:cNvPr id="0" name=""/>
        <dsp:cNvSpPr/>
      </dsp:nvSpPr>
      <dsp:spPr>
        <a:xfrm>
          <a:off x="291287" y="2628512"/>
          <a:ext cx="529612" cy="5296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1E5C6-2712-4860-A97C-4CEB085182D1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Hospitals with higher staff-to-bed ratios do not always achieve higher occupancy.</a:t>
          </a:r>
        </a:p>
      </dsp:txBody>
      <dsp:txXfrm>
        <a:off x="1112187" y="2411852"/>
        <a:ext cx="5837252" cy="962932"/>
      </dsp:txXfrm>
    </dsp:sp>
    <dsp:sp modelId="{D2122E1E-1C9D-473B-8414-AFDE92AA199D}">
      <dsp:nvSpPr>
        <dsp:cNvPr id="0" name=""/>
        <dsp:cNvSpPr/>
      </dsp:nvSpPr>
      <dsp:spPr>
        <a:xfrm>
          <a:off x="0" y="3615517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8297C3-0809-459A-AAAD-803C877CEDA5}">
      <dsp:nvSpPr>
        <dsp:cNvPr id="0" name=""/>
        <dsp:cNvSpPr/>
      </dsp:nvSpPr>
      <dsp:spPr>
        <a:xfrm>
          <a:off x="291287" y="3832177"/>
          <a:ext cx="529612" cy="5296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71D14-EA69-45A4-94AB-E6650EA5E4C1}">
      <dsp:nvSpPr>
        <dsp:cNvPr id="0" name=""/>
        <dsp:cNvSpPr/>
      </dsp:nvSpPr>
      <dsp:spPr>
        <a:xfrm>
          <a:off x="1112187" y="3615517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Revenue per bed has steadily increased over time, indicating improved revenue generation.</a:t>
          </a:r>
        </a:p>
      </dsp:txBody>
      <dsp:txXfrm>
        <a:off x="1112187" y="3615517"/>
        <a:ext cx="5837252" cy="962932"/>
      </dsp:txXfrm>
    </dsp:sp>
    <dsp:sp modelId="{8969CA47-99F3-4BA3-A938-9ACA68C02FED}">
      <dsp:nvSpPr>
        <dsp:cNvPr id="0" name=""/>
        <dsp:cNvSpPr/>
      </dsp:nvSpPr>
      <dsp:spPr>
        <a:xfrm>
          <a:off x="0" y="4819183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7A9CC-C4FF-486C-85D0-367D53E9AE4E}">
      <dsp:nvSpPr>
        <dsp:cNvPr id="0" name=""/>
        <dsp:cNvSpPr/>
      </dsp:nvSpPr>
      <dsp:spPr>
        <a:xfrm>
          <a:off x="291287" y="5035843"/>
          <a:ext cx="529612" cy="5296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D530F-2A51-4CD4-93FC-7A193D59B573}">
      <dsp:nvSpPr>
        <dsp:cNvPr id="0" name=""/>
        <dsp:cNvSpPr/>
      </dsp:nvSpPr>
      <dsp:spPr>
        <a:xfrm>
          <a:off x="1112187" y="4819183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Length of stay remains consistent, suggesting stable patient care patterns.</a:t>
          </a:r>
        </a:p>
      </dsp:txBody>
      <dsp:txXfrm>
        <a:off x="1112187" y="4819183"/>
        <a:ext cx="5837252" cy="9629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D2512-9B62-4186-845F-014627FB77F2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DF831-24D5-4627-AED1-7A111DB9B3F7}">
      <dsp:nvSpPr>
        <dsp:cNvPr id="0" name=""/>
        <dsp:cNvSpPr/>
      </dsp:nvSpPr>
      <dsp:spPr>
        <a:xfrm>
          <a:off x="291287" y="221180"/>
          <a:ext cx="529613" cy="529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27896-7977-4333-AC72-60A001C64117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Hospital performance varies significantly across different U.S. states.</a:t>
          </a:r>
        </a:p>
      </dsp:txBody>
      <dsp:txXfrm>
        <a:off x="1112187" y="4520"/>
        <a:ext cx="5837252" cy="962932"/>
      </dsp:txXfrm>
    </dsp:sp>
    <dsp:sp modelId="{582839B7-CC0D-437A-8767-E1704F427512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A6711-F770-46BD-AA3A-68B0B08A8D34}">
      <dsp:nvSpPr>
        <dsp:cNvPr id="0" name=""/>
        <dsp:cNvSpPr/>
      </dsp:nvSpPr>
      <dsp:spPr>
        <a:xfrm>
          <a:off x="291287" y="1424846"/>
          <a:ext cx="529613" cy="529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8242A-8213-41B3-A3C1-291F25588D52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States like </a:t>
          </a:r>
          <a:r>
            <a:rPr lang="en-US" sz="1900" b="1" kern="1200"/>
            <a:t>California and Texas</a:t>
          </a:r>
          <a:r>
            <a:rPr lang="en-US" sz="1900" kern="1200"/>
            <a:t> generate the highest hospital revenue.</a:t>
          </a:r>
        </a:p>
      </dsp:txBody>
      <dsp:txXfrm>
        <a:off x="1112187" y="1208186"/>
        <a:ext cx="5837252" cy="962932"/>
      </dsp:txXfrm>
    </dsp:sp>
    <dsp:sp modelId="{88962184-2AE3-4796-BBB5-4803E5CD977D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309F09-1E0E-46DB-8EC2-08F6BECE970B}">
      <dsp:nvSpPr>
        <dsp:cNvPr id="0" name=""/>
        <dsp:cNvSpPr/>
      </dsp:nvSpPr>
      <dsp:spPr>
        <a:xfrm>
          <a:off x="291287" y="2628512"/>
          <a:ext cx="529613" cy="529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03B96-9255-4387-9769-02447EE09A6C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Profit margins are higher in some smaller states compared to large population states.</a:t>
          </a:r>
        </a:p>
      </dsp:txBody>
      <dsp:txXfrm>
        <a:off x="1112187" y="2411852"/>
        <a:ext cx="5837252" cy="962932"/>
      </dsp:txXfrm>
    </dsp:sp>
    <dsp:sp modelId="{9C0071AD-FAE7-4827-8EE9-016A154F2F64}">
      <dsp:nvSpPr>
        <dsp:cNvPr id="0" name=""/>
        <dsp:cNvSpPr/>
      </dsp:nvSpPr>
      <dsp:spPr>
        <a:xfrm>
          <a:off x="0" y="3615518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B8061-AB3E-4A41-AD69-A7E80C39E1BF}">
      <dsp:nvSpPr>
        <dsp:cNvPr id="0" name=""/>
        <dsp:cNvSpPr/>
      </dsp:nvSpPr>
      <dsp:spPr>
        <a:xfrm>
          <a:off x="291287" y="3832178"/>
          <a:ext cx="529613" cy="529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0EB80-B835-45DF-91BF-8B5AA5B74D88}">
      <dsp:nvSpPr>
        <dsp:cNvPr id="0" name=""/>
        <dsp:cNvSpPr/>
      </dsp:nvSpPr>
      <dsp:spPr>
        <a:xfrm>
          <a:off x="1112187" y="3615518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Occupancy rates differ by region, showing uneven demand for hospital services.</a:t>
          </a:r>
        </a:p>
      </dsp:txBody>
      <dsp:txXfrm>
        <a:off x="1112187" y="3615518"/>
        <a:ext cx="5837252" cy="962932"/>
      </dsp:txXfrm>
    </dsp:sp>
    <dsp:sp modelId="{EB28C6CF-2CE3-4F5A-AADF-C4123319E784}">
      <dsp:nvSpPr>
        <dsp:cNvPr id="0" name=""/>
        <dsp:cNvSpPr/>
      </dsp:nvSpPr>
      <dsp:spPr>
        <a:xfrm>
          <a:off x="0" y="4819184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3CF47-4DC2-485C-912B-E7B7A5FE31B5}">
      <dsp:nvSpPr>
        <dsp:cNvPr id="0" name=""/>
        <dsp:cNvSpPr/>
      </dsp:nvSpPr>
      <dsp:spPr>
        <a:xfrm>
          <a:off x="291287" y="5035844"/>
          <a:ext cx="529613" cy="5296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A7C4F-93AC-462D-9E6A-16D5E296F060}">
      <dsp:nvSpPr>
        <dsp:cNvPr id="0" name=""/>
        <dsp:cNvSpPr/>
      </dsp:nvSpPr>
      <dsp:spPr>
        <a:xfrm>
          <a:off x="1112187" y="4819184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Urban hospitals tend to report stronger revenue concentrations than rural areas.</a:t>
          </a:r>
        </a:p>
      </dsp:txBody>
      <dsp:txXfrm>
        <a:off x="1112187" y="4819184"/>
        <a:ext cx="5837252" cy="9629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4F199D-1D91-4E3F-8B00-C7FAE1035BC7}">
      <dsp:nvSpPr>
        <dsp:cNvPr id="0" name=""/>
        <dsp:cNvSpPr/>
      </dsp:nvSpPr>
      <dsp:spPr>
        <a:xfrm>
          <a:off x="2067070" y="1767"/>
          <a:ext cx="8268280" cy="7753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428" tIns="196942" rIns="160428" bIns="19694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Forecast Hospital Trends:</a:t>
          </a:r>
          <a:br>
            <a:rPr lang="en-US" sz="1200" kern="1200"/>
          </a:br>
          <a:r>
            <a:rPr lang="en-US" sz="1200" kern="1200"/>
            <a:t> Use machine learning to predict revenue, staffing, and performance by ownership type and region.</a:t>
          </a:r>
        </a:p>
      </dsp:txBody>
      <dsp:txXfrm>
        <a:off x="2067070" y="1767"/>
        <a:ext cx="8268280" cy="775361"/>
      </dsp:txXfrm>
    </dsp:sp>
    <dsp:sp modelId="{28559B22-A333-4CD5-AD98-9B0043D3F737}">
      <dsp:nvSpPr>
        <dsp:cNvPr id="0" name=""/>
        <dsp:cNvSpPr/>
      </dsp:nvSpPr>
      <dsp:spPr>
        <a:xfrm>
          <a:off x="0" y="1767"/>
          <a:ext cx="2067070" cy="7753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82" tIns="76589" rIns="109382" bIns="7658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Forecast</a:t>
          </a:r>
        </a:p>
      </dsp:txBody>
      <dsp:txXfrm>
        <a:off x="0" y="1767"/>
        <a:ext cx="2067070" cy="775361"/>
      </dsp:txXfrm>
    </dsp:sp>
    <dsp:sp modelId="{41D92471-86D9-4B82-BF2F-85A22D6D6AF2}">
      <dsp:nvSpPr>
        <dsp:cNvPr id="0" name=""/>
        <dsp:cNvSpPr/>
      </dsp:nvSpPr>
      <dsp:spPr>
        <a:xfrm>
          <a:off x="2067070" y="823650"/>
          <a:ext cx="8268280" cy="7753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428" tIns="196942" rIns="160428" bIns="19694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 Dashboards for Facilities:</a:t>
          </a:r>
          <a:br>
            <a:rPr lang="en-US" sz="1200" kern="1200"/>
          </a:br>
          <a:r>
            <a:rPr lang="en-US" sz="1200" kern="1200"/>
            <a:t> Build drilldown dashboards for individual hospitals to support daily decision-making.</a:t>
          </a:r>
        </a:p>
      </dsp:txBody>
      <dsp:txXfrm>
        <a:off x="2067070" y="823650"/>
        <a:ext cx="8268280" cy="775361"/>
      </dsp:txXfrm>
    </dsp:sp>
    <dsp:sp modelId="{DB2E6A93-75C7-466B-ADB0-4658430E39B5}">
      <dsp:nvSpPr>
        <dsp:cNvPr id="0" name=""/>
        <dsp:cNvSpPr/>
      </dsp:nvSpPr>
      <dsp:spPr>
        <a:xfrm>
          <a:off x="0" y="823650"/>
          <a:ext cx="2067070" cy="7753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82" tIns="76589" rIns="109382" bIns="7658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</a:t>
          </a:r>
        </a:p>
      </dsp:txBody>
      <dsp:txXfrm>
        <a:off x="0" y="823650"/>
        <a:ext cx="2067070" cy="775361"/>
      </dsp:txXfrm>
    </dsp:sp>
    <dsp:sp modelId="{7E17BE9B-30A1-462A-B55E-3872AFB4AA2D}">
      <dsp:nvSpPr>
        <dsp:cNvPr id="0" name=""/>
        <dsp:cNvSpPr/>
      </dsp:nvSpPr>
      <dsp:spPr>
        <a:xfrm>
          <a:off x="2067070" y="1645534"/>
          <a:ext cx="8268280" cy="7753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428" tIns="196942" rIns="160428" bIns="19694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Post-COVID Recovery Tracking:</a:t>
          </a:r>
          <a:br>
            <a:rPr lang="en-US" sz="1200" kern="1200"/>
          </a:br>
          <a:r>
            <a:rPr lang="en-US" sz="1200" kern="1200"/>
            <a:t> Monitor 2023+ trends in admissions, revenue, and occupancy to assess system recovery.</a:t>
          </a:r>
        </a:p>
      </dsp:txBody>
      <dsp:txXfrm>
        <a:off x="2067070" y="1645534"/>
        <a:ext cx="8268280" cy="775361"/>
      </dsp:txXfrm>
    </dsp:sp>
    <dsp:sp modelId="{8D21341E-9F44-4F91-A03D-C988C934A5C3}">
      <dsp:nvSpPr>
        <dsp:cNvPr id="0" name=""/>
        <dsp:cNvSpPr/>
      </dsp:nvSpPr>
      <dsp:spPr>
        <a:xfrm>
          <a:off x="0" y="1645534"/>
          <a:ext cx="2067070" cy="7753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82" tIns="76589" rIns="109382" bIns="7658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Monitor</a:t>
          </a:r>
        </a:p>
      </dsp:txBody>
      <dsp:txXfrm>
        <a:off x="0" y="1645534"/>
        <a:ext cx="2067070" cy="775361"/>
      </dsp:txXfrm>
    </dsp:sp>
    <dsp:sp modelId="{D1610347-AD4D-47FA-AFF3-CCC6678875E6}">
      <dsp:nvSpPr>
        <dsp:cNvPr id="0" name=""/>
        <dsp:cNvSpPr/>
      </dsp:nvSpPr>
      <dsp:spPr>
        <a:xfrm>
          <a:off x="2067070" y="2467418"/>
          <a:ext cx="8268280" cy="7753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428" tIns="196942" rIns="160428" bIns="19694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Advanced Hospital Clustering:</a:t>
          </a:r>
          <a:br>
            <a:rPr lang="en-US" sz="1200" kern="1200"/>
          </a:br>
          <a:r>
            <a:rPr lang="en-US" sz="1200" kern="1200"/>
            <a:t> Enhance clustering with operational metrics (e.g., staff-to-bed ratio, discharge efficiency) for benchmarking.</a:t>
          </a:r>
        </a:p>
      </dsp:txBody>
      <dsp:txXfrm>
        <a:off x="2067070" y="2467418"/>
        <a:ext cx="8268280" cy="775361"/>
      </dsp:txXfrm>
    </dsp:sp>
    <dsp:sp modelId="{8EF35028-F74C-460E-AFA5-8D87FE68F26E}">
      <dsp:nvSpPr>
        <dsp:cNvPr id="0" name=""/>
        <dsp:cNvSpPr/>
      </dsp:nvSpPr>
      <dsp:spPr>
        <a:xfrm>
          <a:off x="0" y="2467418"/>
          <a:ext cx="2067070" cy="7753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82" tIns="76589" rIns="109382" bIns="7658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Enhance</a:t>
          </a:r>
        </a:p>
      </dsp:txBody>
      <dsp:txXfrm>
        <a:off x="0" y="2467418"/>
        <a:ext cx="2067070" cy="775361"/>
      </dsp:txXfrm>
    </dsp:sp>
    <dsp:sp modelId="{4CE2EFBB-622D-4E0B-9745-BEC9AD655FE6}">
      <dsp:nvSpPr>
        <dsp:cNvPr id="0" name=""/>
        <dsp:cNvSpPr/>
      </dsp:nvSpPr>
      <dsp:spPr>
        <a:xfrm>
          <a:off x="2067070" y="3289301"/>
          <a:ext cx="8268280" cy="7753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428" tIns="196942" rIns="160428" bIns="19694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Policy Impact Simulations:</a:t>
          </a:r>
          <a:br>
            <a:rPr lang="en-US" sz="1200" kern="1200"/>
          </a:br>
          <a:r>
            <a:rPr lang="en-US" sz="1200" kern="1200"/>
            <a:t> Develop tools to estimate how policy shifts (e.g., Medicaid changes) affect financial outcomes.</a:t>
          </a:r>
        </a:p>
      </dsp:txBody>
      <dsp:txXfrm>
        <a:off x="2067070" y="3289301"/>
        <a:ext cx="8268280" cy="775361"/>
      </dsp:txXfrm>
    </dsp:sp>
    <dsp:sp modelId="{F27A52BB-9D5C-45D3-A0CB-2C2A8DFD5E09}">
      <dsp:nvSpPr>
        <dsp:cNvPr id="0" name=""/>
        <dsp:cNvSpPr/>
      </dsp:nvSpPr>
      <dsp:spPr>
        <a:xfrm>
          <a:off x="0" y="3289301"/>
          <a:ext cx="2067070" cy="7753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82" tIns="76589" rIns="109382" bIns="7658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</a:t>
          </a:r>
        </a:p>
      </dsp:txBody>
      <dsp:txXfrm>
        <a:off x="0" y="3289301"/>
        <a:ext cx="2067070" cy="7753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4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0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4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5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2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3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8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2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6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0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30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2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38" r:id="rId6"/>
    <p:sldLayoutId id="2147483734" r:id="rId7"/>
    <p:sldLayoutId id="2147483735" r:id="rId8"/>
    <p:sldLayoutId id="2147483736" r:id="rId9"/>
    <p:sldLayoutId id="2147483737" r:id="rId10"/>
    <p:sldLayoutId id="214748373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8522" y="849085"/>
            <a:ext cx="3602356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U.S. Hospital Performance Analysis (2011–2022)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7394" y="849085"/>
            <a:ext cx="6144768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Financial, Operational, and Geographic Insights Using CMS Cost Report Data</a:t>
            </a:r>
          </a:p>
          <a:p>
            <a:pPr algn="l"/>
            <a:r>
              <a:rPr lang="en-US" b="1" dirty="0"/>
              <a:t>Presented By: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dirty="0"/>
              <a:t>Manjunath </a:t>
            </a:r>
            <a:r>
              <a:rPr lang="en-US" dirty="0" err="1"/>
              <a:t>Muthineni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dirty="0"/>
              <a:t>Rajesh Thota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dirty="0"/>
              <a:t>Neha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dirty="0"/>
              <a:t>Abhishekh Choudhary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dirty="0"/>
              <a:t>Krishna Chaitanya </a:t>
            </a:r>
            <a:r>
              <a:rPr lang="en-US" dirty="0" err="1"/>
              <a:t>Venuturumilli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3CDF7-E623-518C-2D2F-25C4286E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00ADF-C428-BD32-FA50-0759CD3C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b="0">
                <a:ea typeface="+mj-lt"/>
                <a:cs typeface="+mj-lt"/>
              </a:rPr>
              <a:t>Agenda</a:t>
            </a:r>
            <a:endParaRPr lang="en-US" sz="4000">
              <a:ea typeface="+mj-lt"/>
              <a:cs typeface="+mj-l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3206EF-8594-32A6-4F04-E603B499F0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86254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79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69DE-D1E7-B1E0-BEBB-4BBC0BEB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11019514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Problem Statement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U.S. hospitals face rising costs while trying to operate efficiently and meet different regional healthcare needs. Understanding hospital performance helps support better decision-making and planning.</a:t>
            </a:r>
          </a:p>
          <a:p>
            <a:pPr marL="0" indent="0">
              <a:buNone/>
            </a:pPr>
            <a:r>
              <a:rPr lang="en-US" b="1" dirty="0"/>
              <a:t>Research Questions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How has the financial performance of U.S. hospitals changed over time?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How well are hospitals using their resources?</a:t>
            </a:r>
          </a:p>
          <a:p>
            <a:r>
              <a:rPr lang="en-US" dirty="0">
                <a:ea typeface="+mn-lt"/>
                <a:cs typeface="+mn-lt"/>
              </a:rPr>
              <a:t>Are there differences in hospital performance across U.S. states?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B018B5-F9E4-973B-4B86-739E7F0C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and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472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C839-DA22-9A30-7BB3-F84EDAC6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55C4F-9EB1-7D76-CF02-F0377008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Data Source:</a:t>
            </a:r>
            <a:r>
              <a:rPr lang="en-US" dirty="0">
                <a:ea typeface="+mn-lt"/>
                <a:cs typeface="+mn-lt"/>
              </a:rPr>
              <a:t> CMS Hospital Provider Cost Reports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Organization:</a:t>
            </a:r>
            <a:r>
              <a:rPr lang="en-US" dirty="0">
                <a:ea typeface="+mn-lt"/>
                <a:cs typeface="+mn-lt"/>
              </a:rPr>
              <a:t> Centers for Medicare &amp; Medicaid Services (CMS)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Time Period:</a:t>
            </a:r>
            <a:r>
              <a:rPr lang="en-US" dirty="0">
                <a:ea typeface="+mn-lt"/>
                <a:cs typeface="+mn-lt"/>
              </a:rPr>
              <a:t> 2011–2022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Coverage:</a:t>
            </a:r>
            <a:r>
              <a:rPr lang="en-US" dirty="0">
                <a:ea typeface="+mn-lt"/>
                <a:cs typeface="+mn-lt"/>
              </a:rPr>
              <a:t> U.S. hospitals (financial &amp; operational data)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Data Preparation:</a:t>
            </a:r>
            <a:r>
              <a:rPr lang="en-US" dirty="0">
                <a:ea typeface="+mn-lt"/>
                <a:cs typeface="+mn-lt"/>
              </a:rPr>
              <a:t> Annual cost report files were combined to create a single analysis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62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6717-86C8-1995-C153-7FBE4184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2A3C1-A0EB-03EF-59BA-389DF0EA7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Data collected</a:t>
            </a:r>
            <a:r>
              <a:rPr lang="en-US" dirty="0">
                <a:ea typeface="+mn-lt"/>
                <a:cs typeface="+mn-lt"/>
              </a:rPr>
              <a:t> from CMS Hospital Provider Cost Reports (2011–2022)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Combined annual files</a:t>
            </a:r>
            <a:r>
              <a:rPr lang="en-US" dirty="0">
                <a:ea typeface="+mn-lt"/>
                <a:cs typeface="+mn-lt"/>
              </a:rPr>
              <a:t> into one dataset for analysis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Selected required columns</a:t>
            </a:r>
            <a:r>
              <a:rPr lang="en-US" dirty="0">
                <a:ea typeface="+mn-lt"/>
                <a:cs typeface="+mn-lt"/>
              </a:rPr>
              <a:t> for analysis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Cleaned and standardized</a:t>
            </a:r>
            <a:r>
              <a:rPr lang="en-US" dirty="0">
                <a:ea typeface="+mn-lt"/>
                <a:cs typeface="+mn-lt"/>
              </a:rPr>
              <a:t> key financial and operational variables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Used EDA</a:t>
            </a:r>
            <a:r>
              <a:rPr lang="en-US" dirty="0">
                <a:ea typeface="+mn-lt"/>
                <a:cs typeface="+mn-lt"/>
              </a:rPr>
              <a:t> to check data quality and validate trends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Created KPIs</a:t>
            </a:r>
            <a:r>
              <a:rPr lang="en-US" dirty="0">
                <a:ea typeface="+mn-lt"/>
                <a:cs typeface="+mn-lt"/>
              </a:rPr>
              <a:t> for financial, operational, and geographic performance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Designed dashboards</a:t>
            </a:r>
            <a:r>
              <a:rPr lang="en-US" dirty="0">
                <a:ea typeface="+mn-lt"/>
                <a:cs typeface="+mn-lt"/>
              </a:rPr>
              <a:t> in Power BI to visualize insights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59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2E3C1-851D-F450-2368-2FDD5A03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r>
              <a:rPr lang="en-US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7BE9-ABC6-43C5-B5C5-45A1B617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394" y="849085"/>
            <a:ext cx="6144768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Our analysis is presented using </a:t>
            </a:r>
            <a:r>
              <a:rPr lang="en-US" sz="1800" b="1">
                <a:ea typeface="+mn-lt"/>
                <a:cs typeface="+mn-lt"/>
              </a:rPr>
              <a:t>Power BI dashboards</a:t>
            </a:r>
            <a:r>
              <a:rPr lang="en-US" sz="1800">
                <a:ea typeface="+mn-lt"/>
                <a:cs typeface="+mn-lt"/>
              </a:rPr>
              <a:t> that summarize hospital performance from multiple perspectives:</a:t>
            </a:r>
            <a:endParaRPr lang="en-US" sz="1800"/>
          </a:p>
          <a:p>
            <a:r>
              <a:rPr lang="en-US" sz="1800" b="1">
                <a:ea typeface="+mn-lt"/>
                <a:cs typeface="+mn-lt"/>
              </a:rPr>
              <a:t>Overall Dashboard:</a:t>
            </a:r>
            <a:r>
              <a:rPr lang="en-US" sz="1800">
                <a:ea typeface="+mn-lt"/>
                <a:cs typeface="+mn-lt"/>
              </a:rPr>
              <a:t> High-level national performance summary</a:t>
            </a:r>
            <a:endParaRPr lang="en-US" sz="1800"/>
          </a:p>
          <a:p>
            <a:r>
              <a:rPr lang="en-US" sz="1800" b="1">
                <a:ea typeface="+mn-lt"/>
                <a:cs typeface="+mn-lt"/>
              </a:rPr>
              <a:t>Financial Dashboard:</a:t>
            </a:r>
            <a:r>
              <a:rPr lang="en-US" sz="1800">
                <a:ea typeface="+mn-lt"/>
                <a:cs typeface="+mn-lt"/>
              </a:rPr>
              <a:t> Revenue, expenses, and profit metrics</a:t>
            </a:r>
            <a:endParaRPr lang="en-US" sz="1800"/>
          </a:p>
          <a:p>
            <a:r>
              <a:rPr lang="en-US" sz="1800" b="1">
                <a:ea typeface="+mn-lt"/>
                <a:cs typeface="+mn-lt"/>
              </a:rPr>
              <a:t>Operational Dashboard:</a:t>
            </a:r>
            <a:r>
              <a:rPr lang="en-US" sz="1800">
                <a:ea typeface="+mn-lt"/>
                <a:cs typeface="+mn-lt"/>
              </a:rPr>
              <a:t> Utilization and efficiency indicators</a:t>
            </a:r>
            <a:endParaRPr lang="en-US" sz="1800"/>
          </a:p>
          <a:p>
            <a:r>
              <a:rPr lang="en-US" sz="1800" b="1">
                <a:ea typeface="+mn-lt"/>
                <a:cs typeface="+mn-lt"/>
              </a:rPr>
              <a:t>Geographic Dashboard:</a:t>
            </a:r>
            <a:r>
              <a:rPr lang="en-US" sz="1800">
                <a:ea typeface="+mn-lt"/>
                <a:cs typeface="+mn-lt"/>
              </a:rPr>
              <a:t> State-level performance comparisons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5625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D5DA6D-944B-B946-D609-9680ABB7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0" y="0"/>
            <a:ext cx="12194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E1BD3A-E94A-7F05-33E1-346E66025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54C4C1-0B63-5618-09DA-8D8824D67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7500938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042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94E791C3-9083-F271-4CEB-046747D1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0" y="0"/>
            <a:ext cx="12194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2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B1ADD-610F-522C-0EF2-46A44204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Financial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EB00D6-3C43-9AEC-0652-EB15FEEC7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0720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9882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C1E5D96-0B5D-85F5-2064-C3BCC521A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0" y="0"/>
            <a:ext cx="12207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79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4C0FD-60A1-3B3A-D372-70F48A618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Operational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84B403-8668-6E40-556B-5A8288E4D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340611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812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F31971-564D-D0B9-6BB2-CDA1E29E4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" y="0"/>
            <a:ext cx="121856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4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A48C2-E1C5-162C-858D-B9186D20F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Geographical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8BBD69-932D-80F0-D7A7-8AD01DF79A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05247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44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CB6F-79CA-7220-BBE5-290B5A25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E1CBF-8D00-8112-1F6C-2789A812C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Financial Insights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Profit margins are thin: most hospitals operate near break-even.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Specialty and proprietary hospitals report the highest average margins.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High expenses—not low revenue—are the main cause of poor profitability.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Debt-to-asset ratios are lower for religious and nonprofit hospitals.</a:t>
            </a:r>
            <a:endParaRPr lang="en-US" dirty="0"/>
          </a:p>
          <a:p>
            <a:pPr>
              <a:buNone/>
            </a:pPr>
            <a:r>
              <a:rPr lang="en-US" b="1" dirty="0"/>
              <a:t>Operational Insights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Bed occupancy is highest in psychiatric and rehab hospitals.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Some hospitals are overstaffed relative to their actual occupancy.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Revenue per bed has steadily increased over the last decade.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Payroll costs don't always translate to better performance.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35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C0A7-C5B1-C33A-7AC0-74FE19C2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7D0BA-8C3C-7382-E60E-8F1AE38B5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Geographic Insights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Smaller states like Delaware and Utah outperform large states in profit margins.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Rural hospitals often generate higher revenue per bed than urban ones.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Critical Access Hospitals are almost entirely rural and low-utilization.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Religious nonprofit hospitals have strong liquidity and minimal debt.</a:t>
            </a:r>
            <a:endParaRPr lang="en-US" dirty="0"/>
          </a:p>
          <a:p>
            <a:pPr>
              <a:buNone/>
            </a:pPr>
            <a:r>
              <a:rPr lang="en-US" b="1" dirty="0"/>
              <a:t>Temporal Insights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Revenue and expenses both doubled from 2011 to 2022—but margins stayed flat.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2020 saw sharp drops in occupancy and revenue due to COVID-19.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Post-pandemic, hospitals showed partial recovery with tighter operations.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Hospital performance tiers (high, mid, low) remained consistent over time.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96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4C65C-17CD-9956-BEFC-E12AC46B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0582-9657-974D-B6FA-364349A19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Persistent High Expense Ratios:  </a:t>
            </a:r>
            <a:r>
              <a:rPr lang="en-US" dirty="0">
                <a:ea typeface="+mn-lt"/>
                <a:cs typeface="+mn-lt"/>
              </a:rPr>
              <a:t>Operating costs typically exceed 90% of revenue, leaving minimal </a:t>
            </a:r>
            <a:r>
              <a:rPr lang="en-US">
                <a:ea typeface="+mn-lt"/>
                <a:cs typeface="+mn-lt"/>
              </a:rPr>
              <a:t>net profit even among high-revenue hospitals.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Mismatch Between Staffing and Utilization:</a:t>
            </a:r>
            <a:r>
              <a:rPr lang="en-US" dirty="0">
                <a:ea typeface="+mn-lt"/>
                <a:cs typeface="+mn-lt"/>
              </a:rPr>
              <a:t> Many hospitals retain large full-time staff levels despite low occupancy, leading to inefficiency and resource strain.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Structural Disparities Across Regions: </a:t>
            </a:r>
            <a:r>
              <a:rPr lang="en-US">
                <a:ea typeface="+mn-lt"/>
                <a:cs typeface="+mn-lt"/>
              </a:rPr>
              <a:t>Smaller states often report better margins than larger states, showing that size doesn’t </a:t>
            </a:r>
            <a:r>
              <a:rPr lang="en-US" dirty="0">
                <a:ea typeface="+mn-lt"/>
                <a:cs typeface="+mn-lt"/>
              </a:rPr>
              <a:t>always equal efficiency.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Debt and Liquidity Risks: </a:t>
            </a:r>
            <a:r>
              <a:rPr lang="en-US" dirty="0">
                <a:ea typeface="+mn-lt"/>
                <a:cs typeface="+mn-lt"/>
              </a:rPr>
              <a:t>Public and nonprofit hospitals carry higher liabilities and limited cash buffers, making them more vulnerable to disruptions.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Limited Operational Gains Over Time: </a:t>
            </a:r>
            <a:r>
              <a:rPr lang="en-US" dirty="0">
                <a:ea typeface="+mn-lt"/>
                <a:cs typeface="+mn-lt"/>
              </a:rPr>
              <a:t>Revenue and investment have increased, but profit margins remain flat—indicating a lack of operational optimization.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44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6DA1-7FD4-75A1-27C0-A8D81C69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2675D-435C-89D1-9A93-74B3A138E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Address Staffing Inefficiencies: </a:t>
            </a:r>
            <a:r>
              <a:rPr lang="en-US" dirty="0">
                <a:ea typeface="+mn-lt"/>
                <a:cs typeface="+mn-lt"/>
              </a:rPr>
              <a:t>Audit facilities with high payroll but low occupancy to optimize staff-to-bed ratios and reduce unnecessary labor costs.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Scale Specialty Care Models: </a:t>
            </a:r>
            <a:r>
              <a:rPr lang="en-US" dirty="0">
                <a:ea typeface="+mn-lt"/>
                <a:cs typeface="+mn-lt"/>
              </a:rPr>
              <a:t>Replicate the efficient, high-margin practices of specialty and rehabilitation hospitals in underperforming general hospitals.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Enhance Critical Access Efficiency: </a:t>
            </a:r>
            <a:r>
              <a:rPr lang="en-US" dirty="0">
                <a:ea typeface="+mn-lt"/>
                <a:cs typeface="+mn-lt"/>
              </a:rPr>
              <a:t>Provide rural hospitals with digital tools and shared services to improve operations without inflating overhead.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Reduce Debt Vulnerability: </a:t>
            </a:r>
            <a:r>
              <a:rPr lang="en-US" dirty="0">
                <a:ea typeface="+mn-lt"/>
                <a:cs typeface="+mn-lt"/>
              </a:rPr>
              <a:t>Encourage public and nonprofit hospitals to restructure liabilities and monitor debt-to-asset ratios for financial resilience.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Plan Post-COVID Capacity Realignment: </a:t>
            </a:r>
            <a:r>
              <a:rPr lang="en-US" dirty="0">
                <a:ea typeface="+mn-lt"/>
                <a:cs typeface="+mn-lt"/>
              </a:rPr>
              <a:t>Use 2020–2022 admission trends to recalibrate staffing and bed capacity to match evolving patient volume.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80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E49C7-973E-8A0D-2000-5ABC1BB7E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Future Work</a:t>
            </a:r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D07AB528-680C-36D9-AB76-21C54DA9D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99993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99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and white rectangular sign&#10;&#10;AI-generated content may be incorrect.">
            <a:extLst>
              <a:ext uri="{FF2B5EF4-FFF2-40B4-BE49-F238E27FC236}">
                <a16:creationId xmlns:a16="http://schemas.microsoft.com/office/drawing/2014/main" id="{781CF61A-D8B8-35EC-1574-C397B66A9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3" b="142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7807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VanillaVTI</vt:lpstr>
      <vt:lpstr>U.S. Hospital Performance Analysis (2011–2022)</vt:lpstr>
      <vt:lpstr>Agenda</vt:lpstr>
      <vt:lpstr>Problem Statement and Research Questions</vt:lpstr>
      <vt:lpstr>Dataset Information</vt:lpstr>
      <vt:lpstr>Methodology</vt:lpstr>
      <vt:lpstr>Dashboard Overview</vt:lpstr>
      <vt:lpstr>PowerPoint Presentation</vt:lpstr>
      <vt:lpstr>Insights</vt:lpstr>
      <vt:lpstr>PowerPoint Presentation</vt:lpstr>
      <vt:lpstr>Financial Insights</vt:lpstr>
      <vt:lpstr>PowerPoint Presentation</vt:lpstr>
      <vt:lpstr>Operational Insights</vt:lpstr>
      <vt:lpstr>PowerPoint Presentation</vt:lpstr>
      <vt:lpstr>Geographical Insights</vt:lpstr>
      <vt:lpstr>Advanced Insights</vt:lpstr>
      <vt:lpstr>Advanced Insights</vt:lpstr>
      <vt:lpstr>Key Challenges</vt:lpstr>
      <vt:lpstr>Recommendations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349</cp:revision>
  <dcterms:created xsi:type="dcterms:W3CDTF">2013-07-15T20:26:40Z</dcterms:created>
  <dcterms:modified xsi:type="dcterms:W3CDTF">2025-12-01T02:41:40Z</dcterms:modified>
</cp:coreProperties>
</file>