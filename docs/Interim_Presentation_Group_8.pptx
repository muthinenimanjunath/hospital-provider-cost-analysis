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CEA54F-2D14-8BB0-CD01-291DCFFC45F7}" v="498" dt="2026-03-09T03:35:38.5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85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417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94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53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32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55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20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3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51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86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837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0713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27" r:id="rId6"/>
    <p:sldLayoutId id="2147483723" r:id="rId7"/>
    <p:sldLayoutId id="2147483724" r:id="rId8"/>
    <p:sldLayoutId id="2147483725" r:id="rId9"/>
    <p:sldLayoutId id="2147483726" r:id="rId10"/>
    <p:sldLayoutId id="214748372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edicai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Right Triangle 81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B74A58D-C788-4F75-B5D1-921E78FF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27BC05A-659D-4294-B1DB-0412C6A1E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32A8233F-A451-46B4-BED4-27DD64582D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8A4F6C4-FDB0-4115-ABAE-9A5A8CED0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1C99737-F794-494E-8C0C-76B75CC9D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98F02DA6-DBA7-462E-82AD-42EEDC280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4DE71D6B-949D-4D9E-9EEA-56A8D498A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4EFD95D-F204-41B7-9C56-DBF1155EC8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53D25B4-D3D4-4B6C-A740-E8FD4409B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43FB8D2F-FC2D-463E-A588-218B5ED1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F21BB6B9-EAEA-43A1-9449-A10294E4F9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90C62509-6F9A-4A66-AE78-EF71FE7D45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DF0D677E-8866-4D5C-91F9-90001EBE8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A6C1C222-FB70-4063-9BF6-25E5394546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348C3B78-3424-4DF2-AE25-BC08956E2B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189169EC-7A8F-439B-BDD2-669CDE6D9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E625A96E-5FA1-467F-8929-E9F3A4D42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A4167E38-35D8-4680-8EF9-67045C8AA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E9F9CA-B0D2-4D5B-BA3E-D9F5817AF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41909765-556E-4AA4-8CA8-34ABA30EB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3D9E7D9C-D2A0-4C04-AC8C-CC796A575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1513C351-6AD8-4CC8-85E6-1382AA235C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2190FC97-7BCE-42C2-9768-14559A44A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932B857D-BE14-48CD-8F4D-0E882D328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F2E92CD-7175-484E-B557-CF29951C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B179EA7-0CFA-4FE9-BEF1-462C0ED396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D66676B7-1322-4E27-9218-6D5E8B0EC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026F347-76EB-45F8-9B81-653E64A00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71E93AAC-F0A9-4B35-A413-A322DB9FC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0145F376-7C0E-4F7E-816B-48D485A8C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65F4E9A3-2521-4838-9AA2-A5D5020D4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D0F8335-C6C7-4994-9ECB-54F0EB8C5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Right Triangle 118">
            <a:extLst>
              <a:ext uri="{FF2B5EF4-FFF2-40B4-BE49-F238E27FC236}">
                <a16:creationId xmlns:a16="http://schemas.microsoft.com/office/drawing/2014/main" id="{17D11638-D7E0-4D85-B1A6-AF57358C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0" y="2059091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23" y="721945"/>
            <a:ext cx="10611627" cy="191661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>
                <a:ea typeface="+mj-lt"/>
                <a:cs typeface="+mj-lt"/>
              </a:rPr>
              <a:t>Financial and Operational Analysis of U.S. Hospitals Using Machine Learning (2011–2022)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1078" y="2635170"/>
            <a:ext cx="4981486" cy="35008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500"/>
              <a:t>Course: </a:t>
            </a:r>
            <a:r>
              <a:rPr lang="en-US" sz="1500" b="1"/>
              <a:t>Capstone Project 2</a:t>
            </a:r>
            <a:br>
              <a:rPr lang="en-US" sz="1500" b="1" dirty="0"/>
            </a:br>
            <a:r>
              <a:rPr lang="en-US" sz="1500" b="1"/>
              <a:t> Institution: St. Clair College</a:t>
            </a:r>
            <a:endParaRPr lang="en-US" sz="1500"/>
          </a:p>
          <a:p>
            <a:pPr indent="-2286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500"/>
              <a:t>Instructor: </a:t>
            </a:r>
            <a:r>
              <a:rPr lang="en-US" sz="1500" b="1"/>
              <a:t>Professor Manjari Maheshwari</a:t>
            </a:r>
            <a:endParaRPr lang="en-US" sz="1500"/>
          </a:p>
          <a:p>
            <a:pPr indent="-2286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500" dirty="0"/>
              <a:t>Group 8</a:t>
            </a:r>
            <a:br>
              <a:rPr lang="en-US" sz="1500" dirty="0"/>
            </a:br>
            <a:r>
              <a:rPr lang="en-US" sz="1500" dirty="0"/>
              <a:t> • Manjunath </a:t>
            </a:r>
            <a:r>
              <a:rPr lang="en-US" sz="1500" dirty="0" err="1"/>
              <a:t>Muthineni</a:t>
            </a:r>
            <a:br>
              <a:rPr lang="en-US" sz="1500" dirty="0"/>
            </a:br>
            <a:r>
              <a:rPr lang="en-US" sz="1500" dirty="0"/>
              <a:t> • Rajesh Thota</a:t>
            </a:r>
            <a:br>
              <a:rPr lang="en-US" sz="1500" dirty="0"/>
            </a:br>
            <a:r>
              <a:rPr lang="en-US" sz="1500" dirty="0"/>
              <a:t> • Neha</a:t>
            </a:r>
            <a:br>
              <a:rPr lang="en-US" sz="1500" dirty="0"/>
            </a:br>
            <a:r>
              <a:rPr lang="en-US" sz="1500" dirty="0"/>
              <a:t> • Abhishekh Choudhary</a:t>
            </a:r>
            <a:br>
              <a:rPr lang="en-US" sz="1500" dirty="0"/>
            </a:br>
            <a:r>
              <a:rPr lang="en-US" sz="1500" dirty="0"/>
              <a:t> • Krishna Chaitanya </a:t>
            </a:r>
            <a:r>
              <a:rPr lang="en-US" sz="1500" dirty="0" err="1"/>
              <a:t>Venuturumilli</a:t>
            </a:r>
            <a:endParaRPr lang="en-US" sz="1500"/>
          </a:p>
          <a:p>
            <a:pPr>
              <a:lnSpc>
                <a:spcPct val="100000"/>
              </a:lnSpc>
              <a:buClr>
                <a:srgbClr val="8D87A6"/>
              </a:buClr>
            </a:pPr>
            <a:r>
              <a:rPr lang="en-US" sz="1500"/>
              <a:t>Date: 10 March 2026</a:t>
            </a:r>
            <a:endParaRPr lang="en-US" sz="1500" dirty="0"/>
          </a:p>
          <a:p>
            <a:pPr indent="-2286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1500"/>
          </a:p>
        </p:txBody>
      </p:sp>
      <p:pic>
        <p:nvPicPr>
          <p:cNvPr id="6" name="Picture 5" descr="A blue and yellow logo&#10;&#10;AI-generated content may be incorrect.">
            <a:extLst>
              <a:ext uri="{FF2B5EF4-FFF2-40B4-BE49-F238E27FC236}">
                <a16:creationId xmlns:a16="http://schemas.microsoft.com/office/drawing/2014/main" id="{F20ABC64-0DBE-2306-A5B2-FAC208D83E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0" y="3563253"/>
            <a:ext cx="5411775" cy="189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5578-7265-7F13-13F1-3FD945950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790B0-4B42-3C5A-DB55-6ED4E487A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• Many hospitals in the United States face </a:t>
            </a:r>
            <a:r>
              <a:rPr lang="en-US" b="1">
                <a:ea typeface="+mn-lt"/>
                <a:cs typeface="+mn-lt"/>
              </a:rPr>
              <a:t>growing financial pressure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</a:t>
            </a:r>
            <a:r>
              <a:rPr lang="en-US" b="1">
                <a:ea typeface="+mn-lt"/>
                <a:cs typeface="+mn-lt"/>
              </a:rPr>
              <a:t>Rural hospitals are particularly vulnerable</a:t>
            </a:r>
            <a:r>
              <a:rPr lang="en-US">
                <a:ea typeface="+mn-lt"/>
                <a:cs typeface="+mn-lt"/>
              </a:rPr>
              <a:t> to financial distress and closures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Hospital financial outcomes depend on multiple factors:</a:t>
            </a:r>
            <a:endParaRPr lang="en-US"/>
          </a:p>
          <a:p>
            <a:pPr>
              <a:buClr>
                <a:srgbClr val="8D87A6"/>
              </a:buClr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Operational efficiency</a:t>
            </a:r>
            <a:endParaRPr lang="en-US"/>
          </a:p>
          <a:p>
            <a:pPr>
              <a:buClr>
                <a:srgbClr val="8D87A6"/>
              </a:buClr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Healthcare workforce wages</a:t>
            </a:r>
            <a:endParaRPr lang="en-US"/>
          </a:p>
          <a:p>
            <a:pPr>
              <a:buClr>
                <a:srgbClr val="8D87A6"/>
              </a:buClr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Regional socioeconomic conditions</a:t>
            </a:r>
            <a:endParaRPr lang="en-US"/>
          </a:p>
          <a:p>
            <a:pPr>
              <a:buClr>
                <a:srgbClr val="8D87A6"/>
              </a:buClr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Geographic accessibility</a:t>
            </a:r>
            <a:endParaRPr lang="en-US"/>
          </a:p>
          <a:p>
            <a:pPr indent="0">
              <a:buNone/>
            </a:pPr>
            <a:r>
              <a:rPr lang="en-US">
                <a:ea typeface="+mn-lt"/>
                <a:cs typeface="+mn-lt"/>
              </a:rPr>
              <a:t>• Most traditional studies analyze </a:t>
            </a:r>
            <a:r>
              <a:rPr lang="en-US" b="1">
                <a:ea typeface="+mn-lt"/>
                <a:cs typeface="+mn-lt"/>
              </a:rPr>
              <a:t>only hospital financial data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This limits a complete understanding of </a:t>
            </a:r>
            <a:r>
              <a:rPr lang="en-US" b="1">
                <a:ea typeface="+mn-lt"/>
                <a:cs typeface="+mn-lt"/>
              </a:rPr>
              <a:t>hospital financial sustainability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275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386DF-14E2-C7A7-A1EC-69F67644F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4EF92-5908-1433-455A-8965EBA91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buNone/>
            </a:pPr>
            <a:r>
              <a:rPr lang="en-US" b="1">
                <a:ea typeface="+mn-lt"/>
                <a:cs typeface="+mn-lt"/>
              </a:rPr>
              <a:t>Main Objective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Build a machine learning framework to analyze hospital financial efficiency using integrated national datasets.</a:t>
            </a:r>
            <a:endParaRPr lang="en-US"/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Specific Objectives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Combine CMS, RUCC, BLS, and Census datasets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Train multiple machine learning models</a:t>
            </a:r>
            <a:endParaRPr lang="en-US"/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Predict key hospital performance metrics</a:t>
            </a:r>
            <a:endParaRPr lang="en-US"/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• Profit Margin</a:t>
            </a:r>
            <a:endParaRPr lang="en-US" b="1" dirty="0">
              <a:ea typeface="+mn-lt"/>
              <a:cs typeface="+mn-lt"/>
            </a:endParaRPr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• </a:t>
            </a:r>
            <a:r>
              <a:rPr lang="en-US" b="1" dirty="0">
                <a:ea typeface="+mn-lt"/>
                <a:cs typeface="+mn-lt"/>
              </a:rPr>
              <a:t>Charity Care Ratio</a:t>
            </a: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• Identify drivers of hospital financial performance.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190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 useBgFill="1">
        <p:nvSpPr>
          <p:cNvPr id="60" name="Freeform: Shape 59">
            <a:extLst>
              <a:ext uri="{FF2B5EF4-FFF2-40B4-BE49-F238E27FC236}">
                <a16:creationId xmlns:a16="http://schemas.microsoft.com/office/drawing/2014/main" id="{CFDF70F4-97B6-40D8-B1FA-9580DBD23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2244" y="224448"/>
            <a:ext cx="6857996" cy="6409096"/>
          </a:xfrm>
          <a:custGeom>
            <a:avLst/>
            <a:gdLst>
              <a:gd name="connsiteX0" fmla="*/ 0 w 6857996"/>
              <a:gd name="connsiteY0" fmla="*/ 2827344 h 6142577"/>
              <a:gd name="connsiteX1" fmla="*/ 0 w 6857996"/>
              <a:gd name="connsiteY1" fmla="*/ 5080510 h 6142577"/>
              <a:gd name="connsiteX2" fmla="*/ 3 w 6857996"/>
              <a:gd name="connsiteY2" fmla="*/ 5080510 h 6142577"/>
              <a:gd name="connsiteX3" fmla="*/ 3 w 6857996"/>
              <a:gd name="connsiteY3" fmla="*/ 6142577 h 6142577"/>
              <a:gd name="connsiteX4" fmla="*/ 6857996 w 6857996"/>
              <a:gd name="connsiteY4" fmla="*/ 6142577 h 6142577"/>
              <a:gd name="connsiteX5" fmla="*/ 6857996 w 6857996"/>
              <a:gd name="connsiteY5" fmla="*/ 3928749 h 6142577"/>
              <a:gd name="connsiteX6" fmla="*/ 6857996 w 6857996"/>
              <a:gd name="connsiteY6" fmla="*/ 2572597 h 6142577"/>
              <a:gd name="connsiteX7" fmla="*/ 6857996 w 6857996"/>
              <a:gd name="connsiteY7" fmla="*/ 307516 h 6142577"/>
              <a:gd name="connsiteX8" fmla="*/ 6550769 w 6857996"/>
              <a:gd name="connsiteY8" fmla="*/ 222609 h 6142577"/>
              <a:gd name="connsiteX9" fmla="*/ 5031274 w 6857996"/>
              <a:gd name="connsiteY9" fmla="*/ 33 h 6142577"/>
              <a:gd name="connsiteX10" fmla="*/ 310659 w 6857996"/>
              <a:gd name="connsiteY10" fmla="*/ 1067285 h 6142577"/>
              <a:gd name="connsiteX11" fmla="*/ 2 w 6857996"/>
              <a:gd name="connsiteY11" fmla="*/ 1072307 h 6142577"/>
              <a:gd name="connsiteX12" fmla="*/ 2 w 6857996"/>
              <a:gd name="connsiteY12" fmla="*/ 2827344 h 614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6" h="6142577">
                <a:moveTo>
                  <a:pt x="0" y="2827344"/>
                </a:moveTo>
                <a:lnTo>
                  <a:pt x="0" y="5080510"/>
                </a:lnTo>
                <a:lnTo>
                  <a:pt x="3" y="5080510"/>
                </a:lnTo>
                <a:lnTo>
                  <a:pt x="3" y="6142577"/>
                </a:lnTo>
                <a:lnTo>
                  <a:pt x="6857996" y="6142577"/>
                </a:lnTo>
                <a:lnTo>
                  <a:pt x="6857996" y="3928749"/>
                </a:lnTo>
                <a:lnTo>
                  <a:pt x="6857996" y="2572597"/>
                </a:lnTo>
                <a:lnTo>
                  <a:pt x="6857996" y="307516"/>
                </a:lnTo>
                <a:lnTo>
                  <a:pt x="6550769" y="222609"/>
                </a:lnTo>
                <a:cubicBezTo>
                  <a:pt x="5946238" y="65902"/>
                  <a:pt x="5454822" y="1688"/>
                  <a:pt x="5031274" y="33"/>
                </a:cubicBezTo>
                <a:cubicBezTo>
                  <a:pt x="3337081" y="-6590"/>
                  <a:pt x="2728780" y="987729"/>
                  <a:pt x="310659" y="1067285"/>
                </a:cubicBezTo>
                <a:lnTo>
                  <a:pt x="2" y="1072307"/>
                </a:lnTo>
                <a:lnTo>
                  <a:pt x="2" y="2827344"/>
                </a:lnTo>
                <a:close/>
              </a:path>
            </a:pathLst>
          </a:custGeom>
          <a:solidFill>
            <a:srgbClr val="BCBCB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07F70BA-21EF-4B7D-ACFF-D02E136D4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D487A9C-B45A-450B-B04B-02570D8F4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9C56948-B944-4EAA-A601-1C3F289A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EFFD07-1C36-4595-9832-727669712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A5917E5-3154-42BC-8308-71C3D44DB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B05D64D-A9ED-421A-9ABE-761977A8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5E49393-F5BE-4823-92E3-7A624F7EA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6035503-21C0-4568-B46B-90BB7503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5CACA2B-D1AF-419E-BFBF-413F69DFD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284408D-F3CE-466F-A0C8-D27F2BCFC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2C5065B-1474-4D66-99DB-CFEF811C0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C6F4B51-92DC-4003-A3E7-28710D57A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D5C13CE-E4FE-4F85-BC09-9C950ED7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51C5D97-1CDA-475E-BAC6-EE5899987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DB712EBA-54FF-45FE-9A4E-98C0C0EC2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E0AB49E-A89E-4B6C-AAAA-96E326D1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E63E817-E471-4A64-9EF6-FFB1FBB34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4BB2927-CDAC-455A-8D26-8582DD13D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A8E42F79-594B-4397-8A30-281228EF9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E578AA8-0A5F-4BAA-AAFC-8A1E0783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BA6CB24-165E-4D82-A315-18FFF8ABC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A7AFC89-7922-47E2-8920-9883AF13C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82D63DEE-348A-4118-952F-DCD6FC1B6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7A17409-8146-400D-A3C1-1E93FE205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621B7B93-01A0-4FDD-A6E1-572957781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D3948D1-38CD-41AC-BBE8-291A85A70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A633F3FE-70B6-41BD-A2D7-F9A53AB38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09D1DD0D-9D4A-41EA-9650-F8215D949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8148EE7C-8DC4-4A31-A981-8F838EA8F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F7F7EC5C-3015-4A5E-A9E3-B53F5293D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D7AF31F-4674-411A-837A-ED991478D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5D3DAED2-414E-42E1-998A-6D7EF4A4D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Right Triangle 94">
            <a:extLst>
              <a:ext uri="{FF2B5EF4-FFF2-40B4-BE49-F238E27FC236}">
                <a16:creationId xmlns:a16="http://schemas.microsoft.com/office/drawing/2014/main" id="{9E92C66B-792F-479F-B983-F47FEE1AB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80F9F9-2CB9-C22A-5DE8-10D09F0B1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5408027" cy="14424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Data Sources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44E487-52CE-BDB2-24B7-257071DEDA4A}"/>
              </a:ext>
            </a:extLst>
          </p:cNvPr>
          <p:cNvSpPr txBox="1"/>
          <p:nvPr/>
        </p:nvSpPr>
        <p:spPr>
          <a:xfrm>
            <a:off x="691079" y="2340131"/>
            <a:ext cx="4424633" cy="379191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r>
              <a:rPr lang="en-US">
                <a:solidFill>
                  <a:schemeClr val="tx2"/>
                </a:solidFill>
                <a:ea typeface="+mn-lt"/>
                <a:cs typeface="+mn-lt"/>
              </a:rPr>
              <a:t>Dataset Coverage</a:t>
            </a:r>
          </a:p>
          <a:p>
            <a:r>
              <a:rPr lang="en-US">
                <a:solidFill>
                  <a:schemeClr val="tx2"/>
                </a:solidFill>
                <a:ea typeface="+mn-lt"/>
                <a:cs typeface="+mn-lt"/>
              </a:rPr>
              <a:t>2011–2022</a:t>
            </a:r>
          </a:p>
          <a:p>
            <a:r>
              <a:rPr lang="en-US">
                <a:solidFill>
                  <a:schemeClr val="tx2"/>
                </a:solidFill>
                <a:ea typeface="+mn-lt"/>
                <a:cs typeface="+mn-lt"/>
              </a:rPr>
              <a:t>75,870 hospital-year observations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5C996B2-5308-AED7-A461-1DB38DEC4E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8833309"/>
              </p:ext>
            </p:extLst>
          </p:nvPr>
        </p:nvGraphicFramePr>
        <p:xfrm>
          <a:off x="7087094" y="1529607"/>
          <a:ext cx="4401656" cy="380527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48887">
                  <a:extLst>
                    <a:ext uri="{9D8B030D-6E8A-4147-A177-3AD203B41FA5}">
                      <a16:colId xmlns:a16="http://schemas.microsoft.com/office/drawing/2014/main" val="12543881"/>
                    </a:ext>
                  </a:extLst>
                </a:gridCol>
                <a:gridCol w="3052769">
                  <a:extLst>
                    <a:ext uri="{9D8B030D-6E8A-4147-A177-3AD203B41FA5}">
                      <a16:colId xmlns:a16="http://schemas.microsoft.com/office/drawing/2014/main" val="2492319913"/>
                    </a:ext>
                  </a:extLst>
                </a:gridCol>
              </a:tblGrid>
              <a:tr h="488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Dataset</a:t>
                      </a:r>
                    </a:p>
                  </a:txBody>
                  <a:tcPr marL="114701" marR="114701" marT="57351" marB="57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Purpose</a:t>
                      </a:r>
                    </a:p>
                  </a:txBody>
                  <a:tcPr marL="114701" marR="114701" marT="57351" marB="57351" anchor="ctr"/>
                </a:tc>
                <a:extLst>
                  <a:ext uri="{0D108BD9-81ED-4DB2-BD59-A6C34878D82A}">
                    <a16:rowId xmlns:a16="http://schemas.microsoft.com/office/drawing/2014/main" val="3324157700"/>
                  </a:ext>
                </a:extLst>
              </a:tr>
              <a:tr h="829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CMS HCRIS</a:t>
                      </a:r>
                    </a:p>
                  </a:txBody>
                  <a:tcPr marL="114701" marR="114701" marT="57351" marB="57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Hospital financial &amp; operational data</a:t>
                      </a:r>
                    </a:p>
                  </a:txBody>
                  <a:tcPr marL="114701" marR="114701" marT="57351" marB="57351" anchor="ctr"/>
                </a:tc>
                <a:extLst>
                  <a:ext uri="{0D108BD9-81ED-4DB2-BD59-A6C34878D82A}">
                    <a16:rowId xmlns:a16="http://schemas.microsoft.com/office/drawing/2014/main" val="1036874900"/>
                  </a:ext>
                </a:extLst>
              </a:tr>
              <a:tr h="829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RUCC</a:t>
                      </a:r>
                    </a:p>
                  </a:txBody>
                  <a:tcPr marL="114701" marR="114701" marT="57351" marB="57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Rural vs urban classification</a:t>
                      </a:r>
                    </a:p>
                  </a:txBody>
                  <a:tcPr marL="114701" marR="114701" marT="57351" marB="57351" anchor="ctr"/>
                </a:tc>
                <a:extLst>
                  <a:ext uri="{0D108BD9-81ED-4DB2-BD59-A6C34878D82A}">
                    <a16:rowId xmlns:a16="http://schemas.microsoft.com/office/drawing/2014/main" val="1754577306"/>
                  </a:ext>
                </a:extLst>
              </a:tr>
              <a:tr h="829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BLS OEWS</a:t>
                      </a:r>
                    </a:p>
                  </a:txBody>
                  <a:tcPr marL="114701" marR="114701" marT="57351" marB="57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Healthcare workforce wages</a:t>
                      </a:r>
                    </a:p>
                  </a:txBody>
                  <a:tcPr marL="114701" marR="114701" marT="57351" marB="57351" anchor="ctr"/>
                </a:tc>
                <a:extLst>
                  <a:ext uri="{0D108BD9-81ED-4DB2-BD59-A6C34878D82A}">
                    <a16:rowId xmlns:a16="http://schemas.microsoft.com/office/drawing/2014/main" val="2830170900"/>
                  </a:ext>
                </a:extLst>
              </a:tr>
              <a:tr h="829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Census ACS</a:t>
                      </a:r>
                    </a:p>
                  </a:txBody>
                  <a:tcPr marL="114701" marR="114701" marT="57351" marB="57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Socioeconomic indicators</a:t>
                      </a:r>
                    </a:p>
                  </a:txBody>
                  <a:tcPr marL="114701" marR="114701" marT="57351" marB="57351" anchor="ctr"/>
                </a:tc>
                <a:extLst>
                  <a:ext uri="{0D108BD9-81ED-4DB2-BD59-A6C34878D82A}">
                    <a16:rowId xmlns:a16="http://schemas.microsoft.com/office/drawing/2014/main" val="4243817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652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8E1DB-99D1-4422-F076-544E8B0E2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Integration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46EC2-F3E3-A6B9-F153-BAA263887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buNone/>
            </a:pPr>
            <a:r>
              <a:rPr lang="en-US" b="1">
                <a:ea typeface="+mn-lt"/>
                <a:cs typeface="+mn-lt"/>
              </a:rPr>
              <a:t>Multi-Source Data Integration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CMS Hospital Financial &amp; Operational Data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RUCC Geographic Classification (Rural–Urban Codes)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Census Socioeconomic Indicators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BLS Healthcare Workforce Wage Data</a:t>
            </a:r>
            <a:endParaRPr lang="en-US"/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Final Integrated Dataset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75,870 hospital-year observations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56 total variables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44 predictors used for machine learning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Data aligned at the </a:t>
            </a:r>
            <a:r>
              <a:rPr lang="en-US" b="1" dirty="0">
                <a:ea typeface="+mn-lt"/>
                <a:cs typeface="+mn-lt"/>
              </a:rPr>
              <a:t>hospital-year level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266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13569-C717-D917-FEDF-381396B28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Feature Selection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0F03E-4103-907E-44DB-2822600C9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155777"/>
            <a:ext cx="10325000" cy="4705144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To prepare the dataset for machine learning, relevant predictors were selected from the integrated dataset.</a:t>
            </a:r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Selection Process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Removed variables used to calculate target variables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• Excluded raw financial components to prevent </a:t>
            </a:r>
            <a:r>
              <a:rPr lang="en-US" b="1">
                <a:ea typeface="+mn-lt"/>
                <a:cs typeface="+mn-lt"/>
              </a:rPr>
              <a:t>data leakage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• Selected meaningful operational and contextual predictors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Final Modeling Dataset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55,644 observations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44 predictor variables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• Two target variables:</a:t>
            </a:r>
            <a:endParaRPr lang="en-US"/>
          </a:p>
          <a:p>
            <a:pPr>
              <a:buClr>
                <a:srgbClr val="8D87A6"/>
              </a:buClr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Profit Margin</a:t>
            </a:r>
          </a:p>
          <a:p>
            <a:pPr>
              <a:buClr>
                <a:srgbClr val="8D87A6"/>
              </a:buClr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Charity Care Ratio</a:t>
            </a:r>
          </a:p>
          <a:p>
            <a:pPr indent="0">
              <a:buNone/>
            </a:pPr>
            <a:r>
              <a:rPr lang="en-US" dirty="0">
                <a:ea typeface="+mn-lt"/>
                <a:cs typeface="+mn-lt"/>
              </a:rPr>
              <a:t>This feature selection step ensured that the models used </a:t>
            </a:r>
            <a:r>
              <a:rPr lang="en-US" b="1">
                <a:ea typeface="+mn-lt"/>
                <a:cs typeface="+mn-lt"/>
              </a:rPr>
              <a:t>relevant and independent predictors.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6270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E603E-AD2C-20B1-FBFE-ECC424C02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Machine Learning Pipeline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F99BE-7296-427F-AAC4-528B65DD3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Steps used for model development:</a:t>
            </a: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• Feature selection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• Handling missing values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Encoding categorical variables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• </a:t>
            </a:r>
            <a:r>
              <a:rPr lang="en-US" b="1" dirty="0">
                <a:ea typeface="+mn-lt"/>
                <a:cs typeface="+mn-lt"/>
              </a:rPr>
              <a:t>Cross-validation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• Train-test split</a:t>
            </a:r>
            <a:endParaRPr lang="en-US" dirty="0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Modeling dataset: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</a:t>
            </a:r>
            <a:r>
              <a:rPr lang="en-US" b="1">
                <a:ea typeface="+mn-lt"/>
                <a:cs typeface="+mn-lt"/>
              </a:rPr>
              <a:t>55,644 observations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• 44 predictors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174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08AAE-B16A-ABDF-3F84-BEFCC8508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Models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DA087-ECB1-8B1B-B44A-365D7415B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buNone/>
            </a:pPr>
            <a:r>
              <a:rPr lang="en-US" b="1">
                <a:ea typeface="+mn-lt"/>
                <a:cs typeface="+mn-lt"/>
              </a:rPr>
              <a:t>Baseline Models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Linear Regression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K-Nearest Neighbors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• Decision Tree</a:t>
            </a:r>
            <a:endParaRPr lang="en-US"/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Advanced Models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Random Forest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• </a:t>
            </a:r>
            <a:r>
              <a:rPr lang="en-US" dirty="0" err="1">
                <a:ea typeface="+mn-lt"/>
                <a:cs typeface="+mn-lt"/>
              </a:rPr>
              <a:t>XGBoost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• </a:t>
            </a:r>
            <a:r>
              <a:rPr lang="en-US" dirty="0" err="1">
                <a:ea typeface="+mn-lt"/>
                <a:cs typeface="+mn-lt"/>
              </a:rPr>
              <a:t>LightGBM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Ridge Regression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Support Vector Machine</a:t>
            </a:r>
            <a:endParaRPr lang="en-US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These models were compared to </a:t>
            </a:r>
            <a:r>
              <a:rPr lang="en-US">
                <a:ea typeface="+mn-lt"/>
                <a:cs typeface="+mn-lt"/>
              </a:rPr>
              <a:t>show</a:t>
            </a:r>
            <a:r>
              <a:rPr lang="en-US" dirty="0">
                <a:ea typeface="+mn-lt"/>
                <a:cs typeface="+mn-lt"/>
              </a:rPr>
              <a:t> the </a:t>
            </a:r>
            <a:r>
              <a:rPr lang="en-US" b="1" dirty="0">
                <a:ea typeface="+mn-lt"/>
                <a:cs typeface="+mn-lt"/>
              </a:rPr>
              <a:t>best predictive performance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77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B74A58D-C788-4F75-B5D1-921E78FF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27BC05A-659D-4294-B1DB-0412C6A1E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2A8233F-A451-46B4-BED4-27DD64582D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8A4F6C4-FDB0-4115-ABAE-9A5A8CED0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1C99737-F794-494E-8C0C-76B75CC9D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8F02DA6-DBA7-462E-82AD-42EEDC280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DE71D6B-949D-4D9E-9EEA-56A8D498A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4EFD95D-F204-41B7-9C56-DBF1155EC8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53D25B4-D3D4-4B6C-A740-E8FD4409B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3FB8D2F-FC2D-463E-A588-218B5ED1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21BB6B9-EAEA-43A1-9449-A10294E4F9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0C62509-6F9A-4A66-AE78-EF71FE7D45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F0D677E-8866-4D5C-91F9-90001EBE8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6C1C222-FB70-4063-9BF6-25E5394546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48C3B78-3424-4DF2-AE25-BC08956E2B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89169EC-7A8F-439B-BDD2-669CDE6D9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625A96E-5FA1-467F-8929-E9F3A4D42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4167E38-35D8-4680-8EF9-67045C8AA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9E9F9CA-B0D2-4D5B-BA3E-D9F5817AF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1909765-556E-4AA4-8CA8-34ABA30EB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D9E7D9C-D2A0-4C04-AC8C-CC796A575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513C351-6AD8-4CC8-85E6-1382AA235C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190FC97-7BCE-42C2-9768-14559A44A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32B857D-BE14-48CD-8F4D-0E882D328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F2E92CD-7175-484E-B557-CF29951C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B179EA7-0CFA-4FE9-BEF1-462C0ED396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66676B7-1322-4E27-9218-6D5E8B0EC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026F347-76EB-45F8-9B81-653E64A00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E93AAC-F0A9-4B35-A413-A322DB9FC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145F376-7C0E-4F7E-816B-48D485A8C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5F4E9A3-2521-4838-9AA2-A5D5020D4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D0F8335-C6C7-4994-9ECB-54F0EB8C5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17D11638-D7E0-4D85-B1A6-AF57358C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0" y="2059091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FDAB8A-5043-2B00-553A-F465EFFB0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23" y="721945"/>
            <a:ext cx="10611627" cy="19166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ea typeface="+mj-lt"/>
                <a:cs typeface="+mj-lt"/>
              </a:rPr>
              <a:t>Baseline Model Performance (R²)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480CA0-39A3-2205-824E-24C986960C4D}"/>
              </a:ext>
            </a:extLst>
          </p:cNvPr>
          <p:cNvSpPr txBox="1"/>
          <p:nvPr/>
        </p:nvSpPr>
        <p:spPr>
          <a:xfrm>
            <a:off x="691078" y="2893475"/>
            <a:ext cx="4981486" cy="324257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</a:pPr>
            <a:r>
              <a:rPr lang="en-US" dirty="0">
                <a:solidFill>
                  <a:schemeClr val="tx2"/>
                </a:solidFill>
              </a:rPr>
              <a:t>• KNN performs best for </a:t>
            </a:r>
            <a:r>
              <a:rPr lang="en-US" b="1" dirty="0">
                <a:solidFill>
                  <a:schemeClr val="tx2"/>
                </a:solidFill>
              </a:rPr>
              <a:t>Profit Margin</a:t>
            </a:r>
            <a:br>
              <a:rPr lang="en-US" b="1" dirty="0"/>
            </a:br>
            <a:r>
              <a:rPr lang="en-US" dirty="0">
                <a:solidFill>
                  <a:schemeClr val="tx2"/>
                </a:solidFill>
              </a:rPr>
              <a:t>• Decision Tree performs best for </a:t>
            </a:r>
            <a:r>
              <a:rPr lang="en-US" b="1" dirty="0">
                <a:solidFill>
                  <a:schemeClr val="tx2"/>
                </a:solidFill>
              </a:rPr>
              <a:t>Charity Care Ratio</a:t>
            </a:r>
            <a:br>
              <a:rPr lang="en-US" dirty="0"/>
            </a:br>
            <a:r>
              <a:rPr lang="en-US" dirty="0">
                <a:solidFill>
                  <a:schemeClr val="tx2"/>
                </a:solidFill>
              </a:rPr>
              <a:t>• Decision Tree shows </a:t>
            </a:r>
            <a:r>
              <a:rPr lang="en-US" b="1" dirty="0">
                <a:solidFill>
                  <a:schemeClr val="tx2"/>
                </a:solidFill>
              </a:rPr>
              <a:t>overfitting</a:t>
            </a:r>
            <a:r>
              <a:rPr lang="en-US" dirty="0">
                <a:solidFill>
                  <a:schemeClr val="tx2"/>
                </a:solidFill>
              </a:rPr>
              <a:t> (Train = 1.0)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</a:pPr>
            <a:endParaRPr lang="en-US">
              <a:solidFill>
                <a:schemeClr val="tx2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E026C50-FA06-6B9D-56A0-D0606115074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0" y="3539857"/>
          <a:ext cx="5411777" cy="1940914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943833">
                  <a:extLst>
                    <a:ext uri="{9D8B030D-6E8A-4147-A177-3AD203B41FA5}">
                      <a16:colId xmlns:a16="http://schemas.microsoft.com/office/drawing/2014/main" val="2995034803"/>
                    </a:ext>
                  </a:extLst>
                </a:gridCol>
                <a:gridCol w="1235591">
                  <a:extLst>
                    <a:ext uri="{9D8B030D-6E8A-4147-A177-3AD203B41FA5}">
                      <a16:colId xmlns:a16="http://schemas.microsoft.com/office/drawing/2014/main" val="1094159710"/>
                    </a:ext>
                  </a:extLst>
                </a:gridCol>
                <a:gridCol w="1161025">
                  <a:extLst>
                    <a:ext uri="{9D8B030D-6E8A-4147-A177-3AD203B41FA5}">
                      <a16:colId xmlns:a16="http://schemas.microsoft.com/office/drawing/2014/main" val="82340322"/>
                    </a:ext>
                  </a:extLst>
                </a:gridCol>
                <a:gridCol w="1064940">
                  <a:extLst>
                    <a:ext uri="{9D8B030D-6E8A-4147-A177-3AD203B41FA5}">
                      <a16:colId xmlns:a16="http://schemas.microsoft.com/office/drawing/2014/main" val="141287971"/>
                    </a:ext>
                  </a:extLst>
                </a:gridCol>
                <a:gridCol w="1006388">
                  <a:extLst>
                    <a:ext uri="{9D8B030D-6E8A-4147-A177-3AD203B41FA5}">
                      <a16:colId xmlns:a16="http://schemas.microsoft.com/office/drawing/2014/main" val="2979370989"/>
                    </a:ext>
                  </a:extLst>
                </a:gridCol>
              </a:tblGrid>
              <a:tr h="521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cap="none" spc="6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marL="72064" marR="72064" marT="72064" marB="3603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cap="none" spc="60">
                          <a:solidFill>
                            <a:schemeClr val="bg1"/>
                          </a:solidFill>
                        </a:rPr>
                        <a:t>Profit Margin Train</a:t>
                      </a:r>
                    </a:p>
                  </a:txBody>
                  <a:tcPr marL="72064" marR="72064" marT="72064" marB="3603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cap="none" spc="60">
                          <a:solidFill>
                            <a:schemeClr val="bg1"/>
                          </a:solidFill>
                        </a:rPr>
                        <a:t>Profit Margin Test</a:t>
                      </a:r>
                    </a:p>
                  </a:txBody>
                  <a:tcPr marL="72064" marR="72064" marT="72064" marB="3603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cap="none" spc="60">
                          <a:solidFill>
                            <a:schemeClr val="bg1"/>
                          </a:solidFill>
                        </a:rPr>
                        <a:t>Charity Care Train</a:t>
                      </a:r>
                    </a:p>
                  </a:txBody>
                  <a:tcPr marL="72064" marR="72064" marT="72064" marB="3603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cap="none" spc="60">
                          <a:solidFill>
                            <a:schemeClr val="bg1"/>
                          </a:solidFill>
                        </a:rPr>
                        <a:t>Charity Care Test</a:t>
                      </a:r>
                    </a:p>
                  </a:txBody>
                  <a:tcPr marL="72064" marR="72064" marT="72064" marB="3603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789117"/>
                  </a:ext>
                </a:extLst>
              </a:tr>
              <a:tr h="473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Linear Regression</a:t>
                      </a:r>
                    </a:p>
                  </a:txBody>
                  <a:tcPr marL="72064" marR="72064" marT="72064" marB="360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0.189</a:t>
                      </a:r>
                    </a:p>
                  </a:txBody>
                  <a:tcPr marL="72064" marR="72064" marT="72064" marB="360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0.189</a:t>
                      </a:r>
                    </a:p>
                  </a:txBody>
                  <a:tcPr marL="72064" marR="72064" marT="72064" marB="360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0.094</a:t>
                      </a:r>
                    </a:p>
                  </a:txBody>
                  <a:tcPr marL="72064" marR="72064" marT="72064" marB="360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0.102</a:t>
                      </a:r>
                    </a:p>
                  </a:txBody>
                  <a:tcPr marL="72064" marR="72064" marT="72064" marB="360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546355"/>
                  </a:ext>
                </a:extLst>
              </a:tr>
              <a:tr h="473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K-Nearest Neighbors</a:t>
                      </a:r>
                    </a:p>
                  </a:txBody>
                  <a:tcPr marL="72064" marR="72064" marT="72064" marB="360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0.598</a:t>
                      </a:r>
                    </a:p>
                  </a:txBody>
                  <a:tcPr marL="72064" marR="72064" marT="72064" marB="360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0.370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064" marR="72064" marT="72064" marB="360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0.429</a:t>
                      </a:r>
                    </a:p>
                  </a:txBody>
                  <a:tcPr marL="72064" marR="72064" marT="72064" marB="360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0.136</a:t>
                      </a:r>
                    </a:p>
                  </a:txBody>
                  <a:tcPr marL="72064" marR="72064" marT="72064" marB="360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77539"/>
                  </a:ext>
                </a:extLst>
              </a:tr>
              <a:tr h="473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Decision Tree</a:t>
                      </a:r>
                    </a:p>
                  </a:txBody>
                  <a:tcPr marL="72064" marR="72064" marT="72064" marB="360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1.000</a:t>
                      </a:r>
                    </a:p>
                  </a:txBody>
                  <a:tcPr marL="72064" marR="72064" marT="72064" marB="360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-0.062</a:t>
                      </a:r>
                    </a:p>
                  </a:txBody>
                  <a:tcPr marL="72064" marR="72064" marT="72064" marB="360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1.000</a:t>
                      </a:r>
                    </a:p>
                  </a:txBody>
                  <a:tcPr marL="72064" marR="72064" marT="72064" marB="360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cap="none" spc="0">
                          <a:solidFill>
                            <a:schemeClr val="tx1"/>
                          </a:solidFill>
                        </a:rPr>
                        <a:t>0.161</a:t>
                      </a:r>
                      <a:endParaRPr lang="en-US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2064" marR="72064" marT="72064" marB="3603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189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123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07F70BA-21EF-4B7D-ACFF-D02E136D4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D487A9C-B45A-450B-B04B-02570D8F4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9C56948-B944-4EAA-A601-1C3F289A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3EFFD07-1C36-4595-9832-727669712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A5917E5-3154-42BC-8308-71C3D44DB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B05D64D-A9ED-421A-9ABE-761977A8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5E49393-F5BE-4823-92E3-7A624F7EA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6035503-21C0-4568-B46B-90BB7503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5CACA2B-D1AF-419E-BFBF-413F69DFD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284408D-F3CE-466F-A0C8-D27F2BCFC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2C5065B-1474-4D66-99DB-CFEF811C0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C6F4B51-92DC-4003-A3E7-28710D57A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D5C13CE-E4FE-4F85-BC09-9C950ED7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51C5D97-1CDA-475E-BAC6-EE5899987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B712EBA-54FF-45FE-9A4E-98C0C0EC2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E0AB49E-A89E-4B6C-AAAA-96E326D1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E63E817-E471-4A64-9EF6-FFB1FBB34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4BB2927-CDAC-455A-8D26-8582DD13D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E42F79-594B-4397-8A30-281228EF9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E578AA8-0A5F-4BAA-AAFC-8A1E0783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BA6CB24-165E-4D82-A315-18FFF8ABC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A7AFC89-7922-47E2-8920-9883AF13C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2D63DEE-348A-4118-952F-DCD6FC1B6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7A17409-8146-400D-A3C1-1E93FE205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21B7B93-01A0-4FDD-A6E1-572957781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D3948D1-38CD-41AC-BBE8-291A85A70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633F3FE-70B6-41BD-A2D7-F9A53AB38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9D1DD0D-9D4A-41EA-9650-F8215D949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148EE7C-8DC4-4A31-A981-8F838EA8F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7F7EC5C-3015-4A5E-A9E3-B53F5293D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D7AF31F-4674-411A-837A-ED991478D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D3DAED2-414E-42E1-998A-6D7EF4A4D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Right Triangle 61">
            <a:extLst>
              <a:ext uri="{FF2B5EF4-FFF2-40B4-BE49-F238E27FC236}">
                <a16:creationId xmlns:a16="http://schemas.microsoft.com/office/drawing/2014/main" id="{9E92C66B-792F-479F-B983-F47FEE1AB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DD3A30-7594-A383-DC05-BC710D06E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5818396" cy="136215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Advanced Model Performance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6C56DB-D0FA-1EA4-7813-AD6F97C13F73}"/>
              </a:ext>
            </a:extLst>
          </p:cNvPr>
          <p:cNvSpPr txBox="1"/>
          <p:nvPr/>
        </p:nvSpPr>
        <p:spPr>
          <a:xfrm>
            <a:off x="691079" y="2340131"/>
            <a:ext cx="5818396" cy="379191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</a:pPr>
            <a:r>
              <a:rPr lang="en-US" b="1">
                <a:solidFill>
                  <a:schemeClr val="tx2"/>
                </a:solidFill>
              </a:rPr>
              <a:t>Key Points</a:t>
            </a:r>
            <a:endParaRPr lang="en-US"/>
          </a:p>
          <a:p>
            <a:pPr indent="-228600">
              <a:lnSpc>
                <a:spcPct val="110000"/>
              </a:lnSpc>
              <a:spcAft>
                <a:spcPts val="600"/>
              </a:spcAft>
              <a:buClr>
                <a:srgbClr val="8D87A6"/>
              </a:buClr>
              <a:buSzPct val="75000"/>
              <a:buFont typeface="Wingdings" panose="05000000000000000000" pitchFamily="2" charset="2"/>
              <a:buChar char="§"/>
            </a:pPr>
            <a:r>
              <a:rPr lang="en-US">
                <a:solidFill>
                  <a:schemeClr val="tx2"/>
                </a:solidFill>
              </a:rPr>
              <a:t>Ensemble tree-based models significantly outperform baseline models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Clr>
                <a:srgbClr val="8D87A6"/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b="1">
                <a:solidFill>
                  <a:schemeClr val="tx2"/>
                </a:solidFill>
              </a:rPr>
              <a:t>Random Forest achieved the best predictive performance</a:t>
            </a:r>
            <a:endParaRPr lang="en-US">
              <a:solidFill>
                <a:schemeClr val="tx2"/>
              </a:solidFill>
            </a:endParaRPr>
          </a:p>
          <a:p>
            <a:pPr indent="-228600">
              <a:lnSpc>
                <a:spcPct val="110000"/>
              </a:lnSpc>
              <a:spcAft>
                <a:spcPts val="600"/>
              </a:spcAft>
              <a:buClr>
                <a:srgbClr val="8D87A6"/>
              </a:buClr>
              <a:buSzPct val="75000"/>
              <a:buFont typeface="Wingdings" panose="05000000000000000000" pitchFamily="2" charset="2"/>
              <a:buChar char="§"/>
            </a:pPr>
            <a:r>
              <a:rPr lang="en-US">
                <a:solidFill>
                  <a:schemeClr val="tx2"/>
                </a:solidFill>
                <a:ea typeface="+mn-lt"/>
                <a:cs typeface="+mn-lt"/>
              </a:rPr>
              <a:t>Charity Care Ratio predictions show higher accuracy than Profit Margin predictions</a:t>
            </a:r>
            <a:endParaRPr lang="en-US" b="1" dirty="0">
              <a:solidFill>
                <a:schemeClr val="tx2"/>
              </a:solidFill>
            </a:endParaRPr>
          </a:p>
          <a:p>
            <a:pPr indent="-228600">
              <a:lnSpc>
                <a:spcPct val="110000"/>
              </a:lnSpc>
              <a:spcAft>
                <a:spcPts val="60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</a:pPr>
            <a:endParaRPr lang="en-US">
              <a:solidFill>
                <a:schemeClr val="tx2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DD3CC96-5826-11C8-63AE-EB2083D1B0B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87094" y="1903853"/>
          <a:ext cx="4401656" cy="3056784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585911">
                  <a:extLst>
                    <a:ext uri="{9D8B030D-6E8A-4147-A177-3AD203B41FA5}">
                      <a16:colId xmlns:a16="http://schemas.microsoft.com/office/drawing/2014/main" val="112723785"/>
                    </a:ext>
                  </a:extLst>
                </a:gridCol>
                <a:gridCol w="1092882">
                  <a:extLst>
                    <a:ext uri="{9D8B030D-6E8A-4147-A177-3AD203B41FA5}">
                      <a16:colId xmlns:a16="http://schemas.microsoft.com/office/drawing/2014/main" val="2745635807"/>
                    </a:ext>
                  </a:extLst>
                </a:gridCol>
                <a:gridCol w="1722863">
                  <a:extLst>
                    <a:ext uri="{9D8B030D-6E8A-4147-A177-3AD203B41FA5}">
                      <a16:colId xmlns:a16="http://schemas.microsoft.com/office/drawing/2014/main" val="3762662800"/>
                    </a:ext>
                  </a:extLst>
                </a:gridCol>
              </a:tblGrid>
              <a:tr h="729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Model</a:t>
                      </a:r>
                    </a:p>
                  </a:txBody>
                  <a:tcPr marL="98606" marR="98606" marT="49303" marB="49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Profit Margin</a:t>
                      </a:r>
                    </a:p>
                  </a:txBody>
                  <a:tcPr marL="98606" marR="98606" marT="49303" marB="49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Charity Care Ratio</a:t>
                      </a:r>
                    </a:p>
                  </a:txBody>
                  <a:tcPr marL="98606" marR="98606" marT="49303" marB="49303" anchor="ctr"/>
                </a:tc>
                <a:extLst>
                  <a:ext uri="{0D108BD9-81ED-4DB2-BD59-A6C34878D82A}">
                    <a16:rowId xmlns:a16="http://schemas.microsoft.com/office/drawing/2014/main" val="3344323980"/>
                  </a:ext>
                </a:extLst>
              </a:tr>
              <a:tr h="729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Random Forest</a:t>
                      </a:r>
                    </a:p>
                  </a:txBody>
                  <a:tcPr marL="98606" marR="98606" marT="49303" marB="49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0.517</a:t>
                      </a:r>
                      <a:endParaRPr lang="en-US" sz="1900"/>
                    </a:p>
                  </a:txBody>
                  <a:tcPr marL="98606" marR="98606" marT="49303" marB="49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/>
                        <a:t>0.576</a:t>
                      </a:r>
                      <a:endParaRPr lang="en-US" sz="1900"/>
                    </a:p>
                  </a:txBody>
                  <a:tcPr marL="98606" marR="98606" marT="49303" marB="49303" anchor="ctr"/>
                </a:tc>
                <a:extLst>
                  <a:ext uri="{0D108BD9-81ED-4DB2-BD59-A6C34878D82A}">
                    <a16:rowId xmlns:a16="http://schemas.microsoft.com/office/drawing/2014/main" val="1525350120"/>
                  </a:ext>
                </a:extLst>
              </a:tr>
              <a:tr h="433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XGBoost</a:t>
                      </a:r>
                    </a:p>
                  </a:txBody>
                  <a:tcPr marL="98606" marR="98606" marT="49303" marB="49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0.493</a:t>
                      </a:r>
                    </a:p>
                  </a:txBody>
                  <a:tcPr marL="98606" marR="98606" marT="49303" marB="49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0.495</a:t>
                      </a:r>
                    </a:p>
                  </a:txBody>
                  <a:tcPr marL="98606" marR="98606" marT="49303" marB="49303" anchor="ctr"/>
                </a:tc>
                <a:extLst>
                  <a:ext uri="{0D108BD9-81ED-4DB2-BD59-A6C34878D82A}">
                    <a16:rowId xmlns:a16="http://schemas.microsoft.com/office/drawing/2014/main" val="3440067193"/>
                  </a:ext>
                </a:extLst>
              </a:tr>
              <a:tr h="433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LightGBM</a:t>
                      </a:r>
                    </a:p>
                  </a:txBody>
                  <a:tcPr marL="98606" marR="98606" marT="49303" marB="49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—</a:t>
                      </a:r>
                    </a:p>
                  </a:txBody>
                  <a:tcPr marL="98606" marR="98606" marT="49303" marB="49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0.479</a:t>
                      </a:r>
                    </a:p>
                  </a:txBody>
                  <a:tcPr marL="98606" marR="98606" marT="49303" marB="49303" anchor="ctr"/>
                </a:tc>
                <a:extLst>
                  <a:ext uri="{0D108BD9-81ED-4DB2-BD59-A6C34878D82A}">
                    <a16:rowId xmlns:a16="http://schemas.microsoft.com/office/drawing/2014/main" val="419623558"/>
                  </a:ext>
                </a:extLst>
              </a:tr>
              <a:tr h="7296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Ridge Regression</a:t>
                      </a:r>
                    </a:p>
                  </a:txBody>
                  <a:tcPr marL="98606" marR="98606" marT="49303" marB="49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0.136</a:t>
                      </a:r>
                    </a:p>
                  </a:txBody>
                  <a:tcPr marL="98606" marR="98606" marT="49303" marB="49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—</a:t>
                      </a:r>
                    </a:p>
                  </a:txBody>
                  <a:tcPr marL="98606" marR="98606" marT="49303" marB="49303" anchor="ctr"/>
                </a:tc>
                <a:extLst>
                  <a:ext uri="{0D108BD9-81ED-4DB2-BD59-A6C34878D82A}">
                    <a16:rowId xmlns:a16="http://schemas.microsoft.com/office/drawing/2014/main" val="3297696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7449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EC9EC-A6AD-0D60-7261-400EB7AB4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</a:t>
            </a:r>
            <a:r>
              <a:rPr lang="en-US"/>
              <a:t>Importances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231C0-9B3E-112B-6DA5-D08FDCF39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>
                <a:ea typeface="+mn-lt"/>
                <a:cs typeface="+mn-lt"/>
              </a:rPr>
              <a:t>Random Forest Key Predictors</a:t>
            </a:r>
            <a:endParaRPr lang="en-US"/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Profit Margin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Revenue per bed • Discharges per bed • Staff-to-bed ratio</a:t>
            </a:r>
            <a:endParaRPr lang="en-US"/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Charity Care Ratio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Workforce wages • Population • Education level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Profit Margin → Operational efficiency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Charity Care Ratio → Community socioeconomic factors</a:t>
            </a:r>
            <a:endParaRPr lang="en-US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144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9508F-3841-D13A-6D91-3551ED07E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5CB24-F1BF-66F1-49C4-C848D5F42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>
                <a:ea typeface="+mn-lt"/>
                <a:cs typeface="+mn-lt"/>
              </a:rPr>
              <a:t>• Operational efficiency strongly influences hospital profitability</a:t>
            </a:r>
            <a:endParaRPr lang="en-US" b="1" dirty="0"/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• Charity Care Ratio is influenced by community socioeconomic conditions</a:t>
            </a:r>
            <a:endParaRPr lang="en-US" b="1" dirty="0"/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• Healthcare workforce wages impact hospital financial performance</a:t>
            </a:r>
            <a:endParaRPr lang="en-US" b="1" dirty="0"/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• Tree-based ensemble models outperform baseline models</a:t>
            </a:r>
            <a:endParaRPr lang="en-US" b="1" dirty="0"/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• Random Forest achieved the highest predictive accuracy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48206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2607-77A7-A453-CE3A-9FA368054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921FF-0D39-6445-1B08-3260A3240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• Developed a healthcare analytics dataset by </a:t>
            </a:r>
            <a:r>
              <a:rPr lang="en-US" b="1">
                <a:ea typeface="+mn-lt"/>
                <a:cs typeface="+mn-lt"/>
              </a:rPr>
              <a:t>combining CMS, RUCC, BLS, and Census data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Applied machine learning models to predict Profit Margin and Charity Care Ratio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Random Forest achieved the best performance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 (R² = 0.517 for Profit Margin, 0.576 for Charity Care Ratio)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Results show hospital financial outcomes are influenced by both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operational efficiency</a:t>
            </a:r>
            <a:r>
              <a:rPr lang="en-US">
                <a:ea typeface="+mn-lt"/>
                <a:cs typeface="+mn-lt"/>
              </a:rPr>
              <a:t> and </a:t>
            </a:r>
            <a:r>
              <a:rPr lang="en-US" b="1">
                <a:ea typeface="+mn-lt"/>
                <a:cs typeface="+mn-lt"/>
              </a:rPr>
              <a:t>regional socioeconomic conditions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7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thank you card with green and white circles&#10;&#10;AI-generated content may be incorrect.">
            <a:extLst>
              <a:ext uri="{FF2B5EF4-FFF2-40B4-BE49-F238E27FC236}">
                <a16:creationId xmlns:a16="http://schemas.microsoft.com/office/drawing/2014/main" id="{E0BD915A-3792-2DD2-501F-FBE1E6AB2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473379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CosineVTI</vt:lpstr>
      <vt:lpstr>Financial and Operational Analysis of U.S. Hospitals Using Machine Learning (2011–2022)</vt:lpstr>
      <vt:lpstr>Problem Motivation</vt:lpstr>
      <vt:lpstr>Project Objective</vt:lpstr>
      <vt:lpstr>Data Sources</vt:lpstr>
      <vt:lpstr>Data Integration Pipeline</vt:lpstr>
      <vt:lpstr>Feature Selection</vt:lpstr>
      <vt:lpstr>Machine Learning Pipeline</vt:lpstr>
      <vt:lpstr>Models Implemented</vt:lpstr>
      <vt:lpstr>Baseline Model Performance (R²)</vt:lpstr>
      <vt:lpstr>Advanced Model Performance </vt:lpstr>
      <vt:lpstr>Feature Importances</vt:lpstr>
      <vt:lpstr>Key Findings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229</cp:revision>
  <dcterms:created xsi:type="dcterms:W3CDTF">2013-07-15T20:26:40Z</dcterms:created>
  <dcterms:modified xsi:type="dcterms:W3CDTF">2026-03-09T03:35:48Z</dcterms:modified>
</cp:coreProperties>
</file>